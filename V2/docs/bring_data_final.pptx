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wRehkXi5qfx7j6K5fCepi4s1f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DAFF2F-DC90-421E-B0CC-09568EC9017D}">
  <a:tblStyle styleId="{95DAFF2F-DC90-421E-B0CC-09568EC9017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C8A855">
              <a:alpha val="12156"/>
            </a:srgbClr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50292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BRING DATA — SISTEMA DE ML PARA ANÚNCIOS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700" y="1093225"/>
            <a:ext cx="71322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Investir em leads</a:t>
            </a:r>
            <a:r>
              <a:rPr b="1" i="0" lang="en-US" sz="34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 que compram</a:t>
            </a:r>
            <a:endParaRPr b="1" i="0" sz="3400" u="none" cap="none" strike="noStrike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3400"/>
              <a:buFont typeface="Georgia"/>
              <a:buNone/>
            </a:pPr>
            <a:r>
              <a:t/>
            </a:r>
            <a:endParaRPr b="1" i="0" sz="3400" u="none" cap="none" strike="noStrike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vs</a:t>
            </a:r>
            <a:endParaRPr b="1" i="0" sz="3400" u="none" cap="none" strike="noStrike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90" y="2397630"/>
            <a:ext cx="7132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investir em leads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3611740"/>
            <a:ext cx="5943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Aumente o lucro enviando para a meta o melhor e mais confiável sinal de otimização em tempo real.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583680" y="3017520"/>
            <a:ext cx="1828800" cy="1463040"/>
          </a:xfrm>
          <a:prstGeom prst="rect">
            <a:avLst/>
          </a:prstGeom>
          <a:solidFill>
            <a:srgbClr val="110F00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720840" y="365760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55 centavos de margem </a:t>
            </a:r>
            <a:r>
              <a:rPr b="1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extra</a:t>
            </a: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 para cada R$1 investido em anúncios </a:t>
            </a:r>
            <a:endParaRPr b="0" i="0" sz="9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t/>
            </a:r>
            <a:endParaRPr b="0" i="0" sz="9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720840" y="315468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R$ 436k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45720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O PROBLEMA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566928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O lead scoring por regras é linear — o comportamento de compra não é.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1691640"/>
            <a:ext cx="4023360" cy="118872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40080" y="185623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Regras fixas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40080" y="2130552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Na maioria das vezes as pontuações são definidas uma vez, aplicadas sempre igual. O perfil muda a cada lançamento. O score não.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663440" y="1691640"/>
            <a:ext cx="4023360" cy="118872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846320" y="185623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Cego para interações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846320" y="2130552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Não enxerga que a mesma resposta vale coisas diferentes dependendo do restante do perfil. Linearidade mata predição.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7200" y="3063240"/>
            <a:ext cx="4023360" cy="118872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40080" y="322783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CPL imprevisível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40080" y="3502152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Lead parece qualificado na captura — mas não converte. O Meta entregou o que você pediu: leads. Não compradores.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663440" y="3063240"/>
            <a:ext cx="4023360" cy="118872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846320" y="322783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O ciclo não fecha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846320" y="3502152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Sem sinal de qualidade real, o Meta não distingue seu comprador do seu curioso. Escalar custa mais, não rende mais.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457200" y="320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COMO FUNCIONA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O sinal certo, na hora certa.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57200" y="114300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A cada lead captado, o sistema atribui um score de propensão e envia ao Meta via CAPI em menos de 5 minutos.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57200" y="1600200"/>
            <a:ext cx="1828800" cy="109728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94360" y="170992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94360" y="192024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Lead preenche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a pesquisa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322576" y="1984248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C29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2E2C29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2514600" y="1600200"/>
            <a:ext cx="1828800" cy="109728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651760" y="170992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2651760" y="192024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ML atribui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score de propensão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379976" y="1984248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C29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2E2C29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572000" y="1600200"/>
            <a:ext cx="1828800" cy="109728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709160" y="170992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709160" y="192024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Sinal enviado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ao Meta via CAPI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437376" y="1984248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C29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2E2C29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629400" y="1600200"/>
            <a:ext cx="1828800" cy="109728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766560" y="170992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766560" y="192024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Meta aprende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e reduz CPL + CPA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57200" y="27889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SINAIS QUE O MODELO USA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57200" y="2999232"/>
            <a:ext cx="1772107" cy="27432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48640" y="3054096"/>
            <a:ext cx="1589227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Respostas da pesquisa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366467" y="2999232"/>
            <a:ext cx="1272845" cy="27432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457907" y="3054096"/>
            <a:ext cx="108996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UTMs de origem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776472" y="2999232"/>
            <a:ext cx="1986077" cy="27432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867912" y="3054096"/>
            <a:ext cx="1803197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Histórico de lançamentos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57200" y="3383280"/>
            <a:ext cx="1486814" cy="27432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48640" y="3438144"/>
            <a:ext cx="13039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Padrões temporais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2081174" y="3383280"/>
            <a:ext cx="1772107" cy="27432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172614" y="3438144"/>
            <a:ext cx="1589227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Validade dos contatos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943592" y="3008442"/>
            <a:ext cx="2128800" cy="2742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035032" y="3063307"/>
            <a:ext cx="194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+ Interações WhatsApp (v2)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990424" y="3392493"/>
            <a:ext cx="1772100" cy="27420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081864" y="3447357"/>
            <a:ext cx="158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Risco de Inadimplência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943592" y="3401755"/>
            <a:ext cx="2128800" cy="2742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077507" y="3438094"/>
            <a:ext cx="194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Comportamento na página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943517" y="3795055"/>
            <a:ext cx="2128800" cy="2742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077432" y="3831394"/>
            <a:ext cx="194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Dispositivo e navegador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943517" y="4188355"/>
            <a:ext cx="2128800" cy="2742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077432" y="4224694"/>
            <a:ext cx="194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Histórico de renovação (LTV)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RESULTADOS — 4 MESES DE OPERAÇÃO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R$ 436.000 de margem incremental verificada.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57200" y="1280160"/>
            <a:ext cx="2029968" cy="1115568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21792" y="1417320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R$ 436k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21792" y="1938528"/>
            <a:ext cx="1700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Margem incremental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total — 4 meses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2633472" y="1280160"/>
            <a:ext cx="2029968" cy="1115568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2798064" y="1417320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798064" y="1938528"/>
            <a:ext cx="1700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Lançamentos 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produção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809744" y="1280160"/>
            <a:ext cx="2029968" cy="1115568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974336" y="1417320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+111%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974336" y="1938528"/>
            <a:ext cx="1700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Receita mediana a mais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por real investido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986016" y="1280160"/>
            <a:ext cx="2029968" cy="1115568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7150608" y="1417320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6/6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150608" y="1938528"/>
            <a:ext cx="1700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Lançamentos com ROAS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ML &gt; Controle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6" name="Google Shape;106;p4"/>
          <p:cNvGraphicFramePr/>
          <p:nvPr/>
        </p:nvGraphicFramePr>
        <p:xfrm>
          <a:off x="457200" y="25420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{95DAFF2F-DC90-421E-B0CC-09568EC9017D}</a:tableStyleId>
              </a:tblPr>
              <a:tblGrid>
                <a:gridCol w="2926075"/>
                <a:gridCol w="1828800"/>
                <a:gridCol w="1828800"/>
                <a:gridCol w="164592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900"/>
                        <a:buFont typeface="Courier New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Período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900"/>
                        <a:buFont typeface="Courier New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Com ML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900"/>
                        <a:buFont typeface="Courier New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Sem ML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900"/>
                        <a:buFont typeface="Courier New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Ganho ML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dez/2025 — 3 lançamentos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R$ 104.000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R$ 80.000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BA7E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DBA7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+R$ 24.000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jan/2026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R$ 340.000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R$ 195.000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BA7E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DBA7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+R$ 145.000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fev/2026 — 2 lançamentos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R$ 204.000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R$ 38.000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BA7E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DBA7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+R$ 166.000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A855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C8A8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mar/2026 — 100% ML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A855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C8A8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R$ 140.000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R$ 39.000 (est.)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BA7E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DBA7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+R$ 101.000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PERFORMANCE — ML VS. CONTROLE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Superior em todos os 6 lançamentos consecutivos.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Campanhas ML e Controle rodando simultaneamente — mesmo período, mesmo produto, mesmo lançamento.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57200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48640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LF40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dez/25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48640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1.06×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48640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0.91×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48640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+17%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892808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984248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LF41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dez/25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984248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3.60×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984248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3.29×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984248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+10%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328416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419856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LF42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dez/25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419856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3.20×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419856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1.39×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419856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+130%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764024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855464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DEV19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jan/26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855464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3.64×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4855464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1.89×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855464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+93%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199632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291072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LF43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fev/26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291072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3.84×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291072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1.36×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291072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+183%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7635240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7726680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LF44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fev/26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7726680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4.07×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7726680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1.20×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7726680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+240%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57200" y="3310128"/>
            <a:ext cx="2743200" cy="1463040"/>
          </a:xfrm>
          <a:prstGeom prst="rect">
            <a:avLst/>
          </a:prstGeom>
          <a:solidFill>
            <a:srgbClr val="0D1A10"/>
          </a:solidFill>
          <a:ln cap="flat" cmpd="sng" w="12700">
            <a:solidFill>
              <a:srgbClr val="5DBA7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40080" y="34290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DBA7E"/>
                </a:solidFill>
                <a:latin typeface="Georgia"/>
                <a:ea typeface="Georgia"/>
                <a:cs typeface="Georgia"/>
                <a:sym typeface="Georgia"/>
              </a:rPr>
              <a:t>28–44%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40080" y="3950208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CPL das campanhas 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abaixo do Controle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em todos os períodos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355848" y="3310128"/>
            <a:ext cx="2743200" cy="1463040"/>
          </a:xfrm>
          <a:prstGeom prst="rect">
            <a:avLst/>
          </a:prstGeom>
          <a:solidFill>
            <a:srgbClr val="0D1A10"/>
          </a:solidFill>
          <a:ln cap="flat" cmpd="sng" w="12700">
            <a:solidFill>
              <a:srgbClr val="5DBA7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3538728" y="34290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DBA7E"/>
                </a:solidFill>
                <a:latin typeface="Georgia"/>
                <a:ea typeface="Georgia"/>
                <a:cs typeface="Georgia"/>
                <a:sym typeface="Georgia"/>
              </a:rPr>
              <a:t>+111%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3538728" y="3950208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Receita mediana por real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investido vs. Controle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simultâneo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254496" y="3310128"/>
            <a:ext cx="2743200" cy="1463040"/>
          </a:xfrm>
          <a:prstGeom prst="rect">
            <a:avLst/>
          </a:prstGeom>
          <a:solidFill>
            <a:srgbClr val="0D1A10"/>
          </a:solidFill>
          <a:ln cap="flat" cmpd="sng" w="12700">
            <a:solidFill>
              <a:srgbClr val="5DBA7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6437376" y="34290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DBA7E"/>
                </a:solidFill>
                <a:latin typeface="Georgia"/>
                <a:ea typeface="Georgia"/>
                <a:cs typeface="Georgia"/>
                <a:sym typeface="Georgia"/>
              </a:rPr>
              <a:t>Crescente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437376" y="3950208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Efeito cumulativo a partir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do 3º lançamento — modelo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atualizado a cada ciclo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SUSTENTABILIDADE &amp; GARANTIA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O que custaria ter isso internamente.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57200" y="1298448"/>
            <a:ext cx="4160520" cy="21488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640080" y="1417320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LONGEVIDADE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40080" y="1627632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Custo de construção</a:t>
            </a:r>
            <a:endParaRPr b="1" i="0" sz="1500" u="none" cap="none" strike="noStrike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828032" y="1298448"/>
            <a:ext cx="4160520" cy="21488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010912" y="1417320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AUDITABILIDADE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010912" y="1627632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Retreino contínuo</a:t>
            </a:r>
            <a:endParaRPr b="1" i="0" sz="1500" u="none" cap="none" strike="noStrike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010912" y="1811585"/>
            <a:ext cx="37947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Modelo atualizado a cada lançamento com dados reais de conversão. Sem degradação. Sem necessidade de equipe interna.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57200" y="3566160"/>
            <a:ext cx="8229600" cy="1234440"/>
          </a:xfrm>
          <a:prstGeom prst="rect">
            <a:avLst/>
          </a:prstGeom>
          <a:solidFill>
            <a:srgbClr val="110F00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40080" y="3675888"/>
            <a:ext cx="7863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R$436k de margem incremental em 4 meses = R$109k por mês de retorno extra com R$197k de investimento em anúncios.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83975" y="2100290"/>
            <a:ext cx="37947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Cientista de dados sênior + MLOps: </a:t>
            </a:r>
            <a:endParaRPr b="0" i="0" sz="10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R$60k–90k/mês em salário. </a:t>
            </a:r>
            <a:endParaRPr b="0" i="0" sz="10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Mais 6 a 12 meses para ter o primeiro modelo em produção.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/>
          <p:nvPr/>
        </p:nvSpPr>
        <p:spPr>
          <a:xfrm>
            <a:off x="457200" y="320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INVESTIMENTO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Três modelos de contratação.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57200" y="1298448"/>
            <a:ext cx="2651760" cy="324612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21792" y="1426464"/>
            <a:ext cx="23225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OPÇÃO 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21792" y="1645920"/>
            <a:ext cx="23225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Fee Fixo Mensal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7"/>
          <p:cNvCxnSpPr/>
          <p:nvPr/>
        </p:nvCxnSpPr>
        <p:spPr>
          <a:xfrm>
            <a:off x="621792" y="2011680"/>
            <a:ext cx="2322576" cy="0"/>
          </a:xfrm>
          <a:prstGeom prst="straightConnector1">
            <a:avLst/>
          </a:prstGeom>
          <a:noFill/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7"/>
          <p:cNvSpPr/>
          <p:nvPr/>
        </p:nvSpPr>
        <p:spPr>
          <a:xfrm>
            <a:off x="621767" y="2050382"/>
            <a:ext cx="82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Setup (free first 3)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463040" y="2084832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000"/>
              <a:buFont typeface="Georgia"/>
              <a:buNone/>
            </a:pPr>
            <a:r>
              <a:rPr b="1" i="0" lang="en-US" sz="1000" u="none" cap="none" strike="sng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R$ 17.500</a:t>
            </a:r>
            <a:endParaRPr b="0" i="0" sz="1000" u="none" cap="none" strike="sng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7"/>
          <p:cNvCxnSpPr/>
          <p:nvPr/>
        </p:nvCxnSpPr>
        <p:spPr>
          <a:xfrm>
            <a:off x="621792" y="2345127"/>
            <a:ext cx="2322600" cy="0"/>
          </a:xfrm>
          <a:prstGeom prst="straightConnector1">
            <a:avLst/>
          </a:prstGeom>
          <a:noFill/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7"/>
          <p:cNvSpPr/>
          <p:nvPr/>
        </p:nvSpPr>
        <p:spPr>
          <a:xfrm>
            <a:off x="621792" y="243230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Mensalidade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463040" y="2432304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R$ 15.000/mês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7"/>
          <p:cNvCxnSpPr/>
          <p:nvPr/>
        </p:nvCxnSpPr>
        <p:spPr>
          <a:xfrm>
            <a:off x="621792" y="2706624"/>
            <a:ext cx="2322576" cy="0"/>
          </a:xfrm>
          <a:prstGeom prst="straightConnector1">
            <a:avLst/>
          </a:prstGeom>
          <a:noFill/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7"/>
          <p:cNvSpPr/>
          <p:nvPr/>
        </p:nvSpPr>
        <p:spPr>
          <a:xfrm>
            <a:off x="621792" y="2825496"/>
            <a:ext cx="232257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Previsibilidade total. Indicado para quem investe acima de R$ 200k/mês em anúncios.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3291840" y="1298448"/>
            <a:ext cx="2651760" cy="324612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429000" y="1207008"/>
            <a:ext cx="1188720" cy="201168"/>
          </a:xfrm>
          <a:prstGeom prst="rect">
            <a:avLst/>
          </a:prstGeom>
          <a:solidFill>
            <a:srgbClr val="C8A855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456432" y="1216152"/>
            <a:ext cx="11338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ourier New"/>
              <a:buNone/>
            </a:pPr>
            <a:r>
              <a:rPr b="1" i="0" lang="en-US" sz="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MAIS FLEXÍVEL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3456432" y="1426464"/>
            <a:ext cx="23225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OPÇÃO 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456432" y="1645920"/>
            <a:ext cx="23225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Rev Share Mensal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7"/>
          <p:cNvCxnSpPr/>
          <p:nvPr/>
        </p:nvCxnSpPr>
        <p:spPr>
          <a:xfrm>
            <a:off x="3456432" y="2011680"/>
            <a:ext cx="2322576" cy="0"/>
          </a:xfrm>
          <a:prstGeom prst="straightConnector1">
            <a:avLst/>
          </a:prstGeom>
          <a:noFill/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7"/>
          <p:cNvSpPr/>
          <p:nvPr/>
        </p:nvSpPr>
        <p:spPr>
          <a:xfrm>
            <a:off x="3456450" y="2084825"/>
            <a:ext cx="822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Setup (free first 3)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t/>
            </a:r>
            <a:endParaRPr b="0" i="0" sz="9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4297680" y="2084832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000"/>
              <a:buFont typeface="Georgia"/>
              <a:buNone/>
            </a:pPr>
            <a:r>
              <a:rPr b="1" i="0" lang="en-US" sz="1000" u="none" cap="none" strike="sng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R$ 17.500</a:t>
            </a:r>
            <a:endParaRPr b="0" i="0" sz="1000" u="none" cap="none" strike="sng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7"/>
          <p:cNvCxnSpPr/>
          <p:nvPr/>
        </p:nvCxnSpPr>
        <p:spPr>
          <a:xfrm>
            <a:off x="3456432" y="2359152"/>
            <a:ext cx="2322576" cy="0"/>
          </a:xfrm>
          <a:prstGeom prst="straightConnector1">
            <a:avLst/>
          </a:prstGeom>
          <a:noFill/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7"/>
          <p:cNvSpPr/>
          <p:nvPr/>
        </p:nvSpPr>
        <p:spPr>
          <a:xfrm>
            <a:off x="3456432" y="243230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Recorrência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297680" y="2432304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20% da margem extra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7"/>
          <p:cNvCxnSpPr/>
          <p:nvPr/>
        </p:nvCxnSpPr>
        <p:spPr>
          <a:xfrm>
            <a:off x="3456432" y="2706624"/>
            <a:ext cx="2322576" cy="0"/>
          </a:xfrm>
          <a:prstGeom prst="straightConnector1">
            <a:avLst/>
          </a:prstGeom>
          <a:noFill/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7"/>
          <p:cNvSpPr/>
          <p:nvPr/>
        </p:nvSpPr>
        <p:spPr>
          <a:xfrm>
            <a:off x="3456432" y="2825496"/>
            <a:ext cx="232257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20% da margem incremental. Paga somente quando o sistema gera resultado. Ideal para quem investe abaixo de R$ 200k/mês.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126480" y="1298448"/>
            <a:ext cx="2651760" cy="324612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291072" y="1426464"/>
            <a:ext cx="23225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OPÇÃO 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291072" y="1645920"/>
            <a:ext cx="23225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Por Lançamento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7"/>
          <p:cNvCxnSpPr/>
          <p:nvPr/>
        </p:nvCxnSpPr>
        <p:spPr>
          <a:xfrm>
            <a:off x="6291072" y="2011680"/>
            <a:ext cx="2322576" cy="0"/>
          </a:xfrm>
          <a:prstGeom prst="straightConnector1">
            <a:avLst/>
          </a:prstGeom>
          <a:noFill/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7"/>
          <p:cNvSpPr/>
          <p:nvPr/>
        </p:nvSpPr>
        <p:spPr>
          <a:xfrm>
            <a:off x="6291072" y="208483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Setup (free first 3)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t/>
            </a:r>
            <a:endParaRPr b="0" i="0" sz="9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7132320" y="2084832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000"/>
              <a:buFont typeface="Georgia"/>
              <a:buNone/>
            </a:pPr>
            <a:r>
              <a:rPr b="1" i="0" lang="en-US" sz="1000" u="none" cap="none" strike="sng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R$ 17.500</a:t>
            </a:r>
            <a:endParaRPr b="0" i="0" sz="1000" u="none" cap="none" strike="sng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7"/>
          <p:cNvCxnSpPr/>
          <p:nvPr/>
        </p:nvCxnSpPr>
        <p:spPr>
          <a:xfrm>
            <a:off x="6291072" y="2359152"/>
            <a:ext cx="2322576" cy="0"/>
          </a:xfrm>
          <a:prstGeom prst="straightConnector1">
            <a:avLst/>
          </a:prstGeom>
          <a:noFill/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7"/>
          <p:cNvSpPr/>
          <p:nvPr/>
        </p:nvSpPr>
        <p:spPr>
          <a:xfrm>
            <a:off x="6291072" y="243230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Rev share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7132320" y="2432304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25% incremental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7"/>
          <p:cNvCxnSpPr/>
          <p:nvPr/>
        </p:nvCxnSpPr>
        <p:spPr>
          <a:xfrm>
            <a:off x="6291072" y="2706624"/>
            <a:ext cx="2322576" cy="0"/>
          </a:xfrm>
          <a:prstGeom prst="straightConnector1">
            <a:avLst/>
          </a:prstGeom>
          <a:noFill/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7"/>
          <p:cNvSpPr/>
          <p:nvPr/>
        </p:nvSpPr>
        <p:spPr>
          <a:xfrm>
            <a:off x="6291072" y="2779776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Fee fixo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7132320" y="2779776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R$ 17.500/lançto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7"/>
          <p:cNvCxnSpPr/>
          <p:nvPr/>
        </p:nvCxnSpPr>
        <p:spPr>
          <a:xfrm>
            <a:off x="6291072" y="3054096"/>
            <a:ext cx="2322576" cy="0"/>
          </a:xfrm>
          <a:prstGeom prst="straightConnector1">
            <a:avLst/>
          </a:prstGeom>
          <a:noFill/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7"/>
          <p:cNvSpPr/>
          <p:nvPr/>
        </p:nvSpPr>
        <p:spPr>
          <a:xfrm>
            <a:off x="6291072" y="3172968"/>
            <a:ext cx="232257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Para quem faz até 7 lançamentos/ano. Sem cobrança nos meses sem captação.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* Montar internamente: mínimo 3 perfis (Cientista + Engenheiro de Dados + Engenheiro de ML) = </a:t>
            </a:r>
            <a:r>
              <a:rPr b="1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R$ 70–80k/mês em folha.</a:t>
            </a: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 Sem garantia, sem prazo, sem contexto acumulado.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"/>
          <p:cNvSpPr/>
          <p:nvPr/>
        </p:nvSpPr>
        <p:spPr>
          <a:xfrm>
            <a:off x="457200" y="320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SOBRE O DESENVOLVEDOR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57200" y="54864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7 anos de mercado.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ML aplicado a lançamentos.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57200" y="1627632"/>
            <a:ext cx="4160520" cy="196596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640080" y="1755648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EXPERIÊNCIA DE MERCADO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640080" y="1975104"/>
            <a:ext cx="3794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+120 lançamentos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640080" y="2377440"/>
            <a:ext cx="37947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Operações de múltiplos 7 e 8 dígitos no mercado de educação online. O modelo foi treinado em dados reais, com contexto de quem executou — não de quem estudou o setor.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828032" y="1627632"/>
            <a:ext cx="3858768" cy="196596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5010912" y="1755648"/>
            <a:ext cx="3493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FORMAÇÃO TÉCNICA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5010912" y="1993392"/>
            <a:ext cx="349300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Char char="•"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Stanford University — Machine Learning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Char char="•"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University of Michigan — Python for Everyone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Char char="•"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DeepLearning.AI — ML in Production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Char char="•"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Google — ML Engineer Certificate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Char char="•"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MLOps Community — First Stack MLOps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Char char="•"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IBM — Databases &amp; SQL for Data Science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57200" y="3730752"/>
            <a:ext cx="8229600" cy="105156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57200" y="3730752"/>
            <a:ext cx="54864" cy="1051560"/>
          </a:xfrm>
          <a:prstGeom prst="rect">
            <a:avLst/>
          </a:prstGeom>
          <a:solidFill>
            <a:srgbClr val="C8A855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685800" y="3913632"/>
            <a:ext cx="6858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706D65"/>
                </a:solidFill>
                <a:latin typeface="Georgia"/>
                <a:ea typeface="Georgia"/>
                <a:cs typeface="Georgia"/>
                <a:sym typeface="Georgia"/>
              </a:rPr>
              <a:t>"Em Deus nós confiamos, os demais, tragam me os dados."</a:t>
            </a:r>
            <a:endParaRPr b="0" i="1" sz="1300" u="none" cap="none" strike="noStrike">
              <a:solidFill>
                <a:srgbClr val="706D6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706D65"/>
                </a:solidFill>
                <a:latin typeface="Georgia"/>
                <a:ea typeface="Georgia"/>
                <a:cs typeface="Georgia"/>
                <a:sym typeface="Georgia"/>
              </a:rPr>
              <a:t>"In God we trust, all the others must bring data."</a:t>
            </a:r>
            <a:endParaRPr b="0" i="1" sz="1300" u="none" cap="none" strike="noStrike">
              <a:solidFill>
                <a:srgbClr val="706D6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685800" y="4279392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— W. Edwards Deming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PERGUNTAS FREQUENTES</a:t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457200" y="54864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Dúvidas comuns.</a:t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457200" y="1280000"/>
            <a:ext cx="3962400" cy="16576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0950" lIns="182875" spcFirstLastPara="1" rIns="182875" wrap="square" tIns="12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“Preciso testar antes”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7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ML e Controle rodam juntos nos primeiros meses. O baseline é o seu próprio ROAS, auditável direto no Meta Ads + plataforma de vendas. A comparação é feita no mesmo painel que você já usa — sem depender de nenhuma métrica externa.</a:t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4724400" y="1280000"/>
            <a:ext cx="3962400" cy="16576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0950" lIns="182875" spcFirstLastPara="1" rIns="182875" wrap="square" tIns="12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“Meu gestor de tráfego já faz isso”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7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O gestor continua fazendo o que faz. O sistema adiciona uma camada que nenhum gestor opera manualmente: score individual por lead em 5 min, via CAPI, antes do leilão. Camadas diferentes, não concorrentes.</a:t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57200" y="3057600"/>
            <a:ext cx="3962400" cy="16576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0950" lIns="182875" spcFirstLastPara="1" rIns="182875" wrap="square" tIns="12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“IA já resolve isso hoje”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7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IA generativa cria copy e </a:t>
            </a:r>
            <a:r>
              <a:rPr lang="en-US" sz="870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leadscore linear</a:t>
            </a:r>
            <a:r>
              <a:rPr b="0" i="0" lang="en-US" sz="87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. Lead scoring por ML prediz comportamento individual de compra. São dois problemas diferentes — e o segundo exige infraestrutura que não existe pronta em nenhuma ferramenta do mercado.</a:t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4724400" y="3057600"/>
            <a:ext cx="3962400" cy="16576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0950" lIns="182875" spcFirstLastPara="1" rIns="182875" wrap="square" tIns="12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“E se o lançamento tiver prejuízo?”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7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A garantia compara ML versus baseline — não versus lucro absoluto. Nos dados reais, o sistema entregou ROAS superior ao Controle mesmo em lançamentos que fecharam no negativo. Em períodos adversos, o ML protege a margem</a:t>
            </a:r>
            <a:r>
              <a:rPr lang="en-US" sz="870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 que seria pior sem a utilização dele</a:t>
            </a:r>
            <a:r>
              <a:rPr b="0" i="0" lang="en-US" sz="87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PERGUNTAS FREQUENTES</a:t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457200" y="54864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Dúvidas comuns.</a:t>
            </a: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457200" y="1280000"/>
            <a:ext cx="2571600" cy="16576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0950" lIns="182875" spcFirstLastPara="1" rIns="182875" wrap="square" tIns="12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“E se eu mudar o produto ou pesquisa?”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7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Mudanças relevantes acionam um novo ciclo de retreino. </a:t>
            </a:r>
            <a:r>
              <a:rPr lang="en-US" sz="870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Na maioria das vezes o</a:t>
            </a:r>
            <a:r>
              <a:rPr b="0" i="0" lang="en-US" sz="87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 modelo se adapta</a:t>
            </a:r>
            <a:r>
              <a:rPr lang="en-US" sz="870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87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 desde que a mudança</a:t>
            </a:r>
            <a:r>
              <a:rPr lang="en-US" sz="870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87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seja comunicada c</a:t>
            </a:r>
            <a:r>
              <a:rPr lang="en-US" sz="870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om antecedência.</a:t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3238800" y="1280000"/>
            <a:ext cx="2571600" cy="16576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0950" lIns="182875" spcFirstLastPara="1" rIns="182875" wrap="square" tIns="12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“Por que não montar isso internamente?”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7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R$70–80k/mês em folha, mais 6–12 meses de desenvolvimento sem garantia. E ainda faltaria o contexto de quem sabe onde o sinal de qualidade se esconde nos dados de um lançamento.</a:t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6020400" y="1280000"/>
            <a:ext cx="2571600" cy="1657600"/>
          </a:xfrm>
          <a:prstGeom prst="rect">
            <a:avLst/>
          </a:prstGeom>
          <a:solidFill>
            <a:srgbClr val="1C1810"/>
          </a:solidFill>
          <a:ln cap="flat" cmpd="sng" w="1905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0950" lIns="182875" spcFirstLastPara="1" rIns="182875" wrap="square" tIns="12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“Vocês só têm um cliente”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7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Sim — e por isso as condições agora são as melhores que existirão. Setup gratuito e cancelamento sem multa existem porque o risco precisa estar do lado de quem está provando o sistema.</a:t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457200" y="4685000"/>
            <a:ext cx="82296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“In God we trust, all the others must bring data.” — W. Edwards Deming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2026-03-25T18:30:10Z</dcterms:created>
  <dc:creator>PptxGenJS</dc:creator>
</cp:coreProperties>
</file>