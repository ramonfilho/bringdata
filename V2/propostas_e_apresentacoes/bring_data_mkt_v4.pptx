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GtShTmI0XLsXbPwB5DM+B78ad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1E10F5-3055-44FE-8798-DF22562F4E30}">
  <a:tblStyle styleId="{1D1E10F5-3055-44FE-8798-DF22562F4E3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6cbc803d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g3d6cbc803d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g3d6cbc803d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d6cbc803d6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g3d6cbc803d6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g3d6cbc803d6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6cbc803d6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3d6cbc803d6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6ace7913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g3d6ace7913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6cbc803d6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d6cbc803d6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g3d6cbc803d6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6cbc803d6_0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d6cbc803d6_0_2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d6cbc803d6_0_2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6cbc803d6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d6cbc803d6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48640" y="3611740"/>
            <a:ext cx="5943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Compatível com Meta Ads, TikTok Ads e Google Ads.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C8A855">
              <a:alpha val="12156"/>
            </a:srgbClr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50292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BRING DATA — SISTEMA DE ML PARA ANÚNCIOS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700" y="1093225"/>
            <a:ext cx="71322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Aumente o retorno do seu investimento</a:t>
            </a:r>
            <a:endParaRPr b="1" i="0" sz="34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90" y="2000255"/>
            <a:ext cx="7132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em anúncios em até 92%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583680" y="3017520"/>
            <a:ext cx="1828800" cy="1463040"/>
          </a:xfrm>
          <a:prstGeom prst="rect">
            <a:avLst/>
          </a:prstGeom>
          <a:solidFill>
            <a:srgbClr val="110F00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720840" y="365760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 </a:t>
            </a:r>
            <a:r>
              <a:rPr b="1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margem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extra verificada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em 4 meses com investimento de R$508k</a:t>
            </a:r>
            <a:endParaRPr b="0" i="0" sz="9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t/>
            </a:r>
            <a:endParaRPr b="0" i="0" sz="9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720840" y="31546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R$470k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d6cbc803d6_0_0"/>
          <p:cNvSpPr/>
          <p:nvPr/>
        </p:nvSpPr>
        <p:spPr>
          <a:xfrm>
            <a:off x="3228600" y="1780000"/>
            <a:ext cx="2600100" cy="2400000"/>
          </a:xfrm>
          <a:prstGeom prst="rect">
            <a:avLst/>
          </a:prstGeom>
          <a:solidFill>
            <a:srgbClr val="1C1810"/>
          </a:solidFill>
          <a:ln cap="flat" cmpd="sng" w="1905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 </a:t>
            </a:r>
            <a:r>
              <a:rPr b="1" lang="en-US" sz="11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evento define o resultado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Se o sinal enviado é fraco a IA</a:t>
            </a:r>
            <a:r>
              <a:rPr lang="en-US" sz="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continua trazendo os perfis errados</a:t>
            </a:r>
            <a:r>
              <a:rPr lang="en-US" sz="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3d6cbc803d6_0_0"/>
          <p:cNvSpPr/>
          <p:nvPr/>
        </p:nvSpPr>
        <p:spPr>
          <a:xfrm>
            <a:off x="457200" y="12500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Meta, TikTok, Google — usam inteligência artificial para decidir quem vê cada anúncio.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d6cbc803d6_0_0"/>
          <p:cNvSpPr/>
          <p:nvPr/>
        </p:nvSpPr>
        <p:spPr>
          <a:xfrm>
            <a:off x="457200" y="320040"/>
            <a:ext cx="8229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 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g3d6cbc803d6_0_0"/>
          <p:cNvSpPr/>
          <p:nvPr/>
        </p:nvSpPr>
        <p:spPr>
          <a:xfrm>
            <a:off x="457200" y="520000"/>
            <a:ext cx="8229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Toda plataforma de anúncios tem uma IA que aprende com os sinais que recebe.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d6cbc803d6_0_0"/>
          <p:cNvSpPr/>
          <p:nvPr/>
        </p:nvSpPr>
        <p:spPr>
          <a:xfrm>
            <a:off x="457200" y="1780000"/>
            <a:ext cx="2600100" cy="24000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Aprende com </a:t>
            </a:r>
            <a:r>
              <a:rPr b="1" lang="en-US" sz="11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eventos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A cada </a:t>
            </a:r>
            <a:r>
              <a:rPr lang="en-US" sz="90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evento</a:t>
            </a: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 a IA atualiza o modelo de quem deve ver o próximo anúncio.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d6cbc803d6_0_0"/>
          <p:cNvSpPr/>
          <p:nvPr/>
        </p:nvSpPr>
        <p:spPr>
          <a:xfrm>
            <a:off x="6000000" y="1780000"/>
            <a:ext cx="2686800" cy="24000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Controlar o evento é controlar o resultado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A qualidade do sinal enviado à plataforma é o principal fator que separa campanhas que lucram das que desperdiçam verba.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d6cbc803d6_0_98"/>
          <p:cNvSpPr/>
          <p:nvPr/>
        </p:nvSpPr>
        <p:spPr>
          <a:xfrm>
            <a:off x="457200" y="347472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 PROBLEMA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d6cbc803d6_0_98"/>
          <p:cNvSpPr/>
          <p:nvPr/>
        </p:nvSpPr>
        <p:spPr>
          <a:xfrm>
            <a:off x="457200" y="566928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As falhas do leadscore clássico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d6cbc803d6_0_98"/>
          <p:cNvSpPr/>
          <p:nvPr/>
        </p:nvSpPr>
        <p:spPr>
          <a:xfrm>
            <a:off x="457200" y="1691640"/>
            <a:ext cx="4023300" cy="11886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d6cbc803d6_0_98"/>
          <p:cNvSpPr/>
          <p:nvPr/>
        </p:nvSpPr>
        <p:spPr>
          <a:xfrm>
            <a:off x="640080" y="185623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Usar s</a:t>
            </a:r>
            <a:r>
              <a:rPr b="1" i="0" lang="en-US" sz="12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egmentação por interesses </a:t>
            </a:r>
            <a:r>
              <a:rPr b="1" lang="en-US" sz="12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ou características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d6cbc803d6_0_98"/>
          <p:cNvSpPr/>
          <p:nvPr/>
        </p:nvSpPr>
        <p:spPr>
          <a:xfrm>
            <a:off x="640075" y="2223962"/>
            <a:ext cx="36576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Especificações dentro da plataforma trazem um perfil</a:t>
            </a: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genérico, não 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quem vai ser cliente.</a:t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" name="Google Shape;45;g3d6cbc803d6_0_98"/>
          <p:cNvSpPr/>
          <p:nvPr/>
        </p:nvSpPr>
        <p:spPr>
          <a:xfrm>
            <a:off x="4663440" y="1691640"/>
            <a:ext cx="4023300" cy="11886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d6cbc803d6_0_98"/>
          <p:cNvSpPr/>
          <p:nvPr/>
        </p:nvSpPr>
        <p:spPr>
          <a:xfrm>
            <a:off x="4846320" y="185623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Generalizar lógica de negócio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d6cbc803d6_0_98"/>
          <p:cNvSpPr/>
          <p:nvPr/>
        </p:nvSpPr>
        <p:spPr>
          <a:xfrm>
            <a:off x="4846320" y="2130552"/>
            <a:ext cx="3657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Cada operação tem um perfil 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único </a:t>
            </a: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 clientes que converte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. 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enhuma segmentação manual consegue capturar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essa especificidade.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d6cbc803d6_0_98"/>
          <p:cNvSpPr/>
          <p:nvPr/>
        </p:nvSpPr>
        <p:spPr>
          <a:xfrm>
            <a:off x="457200" y="3063240"/>
            <a:ext cx="4023300" cy="11886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d6cbc803d6_0_98"/>
          <p:cNvSpPr/>
          <p:nvPr/>
        </p:nvSpPr>
        <p:spPr>
          <a:xfrm>
            <a:off x="640080" y="322783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Resultado imprevisível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d6cbc803d6_0_98"/>
          <p:cNvSpPr/>
          <p:nvPr/>
        </p:nvSpPr>
        <p:spPr>
          <a:xfrm>
            <a:off x="640080" y="3502152"/>
            <a:ext cx="3657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Lead parece qualificado na captura — mas não compra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d6cbc803d6_0_98"/>
          <p:cNvSpPr/>
          <p:nvPr/>
        </p:nvSpPr>
        <p:spPr>
          <a:xfrm>
            <a:off x="4663440" y="3063240"/>
            <a:ext cx="4023300" cy="1188600"/>
          </a:xfrm>
          <a:prstGeom prst="rect">
            <a:avLst/>
          </a:prstGeom>
          <a:solidFill>
            <a:srgbClr val="C8A855">
              <a:alpha val="12160"/>
            </a:srgbClr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d6cbc803d6_0_98"/>
          <p:cNvSpPr/>
          <p:nvPr/>
        </p:nvSpPr>
        <p:spPr>
          <a:xfrm>
            <a:off x="4846320" y="322783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Assunção da linearidade</a:t>
            </a:r>
            <a:endParaRPr b="0" i="0" sz="1200" u="none" cap="none" strike="noStrike">
              <a:solidFill>
                <a:srgbClr val="C8A8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d6cbc803d6_0_98"/>
          <p:cNvSpPr/>
          <p:nvPr/>
        </p:nvSpPr>
        <p:spPr>
          <a:xfrm>
            <a:off x="4846320" y="3502152"/>
            <a:ext cx="3657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Alguns tentam criar regras de pontuação de leads. O problema: regras fixas assumem linearidade. É um chute bem informado.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6cbc803d6_0_32"/>
          <p:cNvSpPr/>
          <p:nvPr/>
        </p:nvSpPr>
        <p:spPr>
          <a:xfrm>
            <a:off x="457200" y="320040"/>
            <a:ext cx="8229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d6cbc803d6_0_32"/>
          <p:cNvSpPr/>
          <p:nvPr/>
        </p:nvSpPr>
        <p:spPr>
          <a:xfrm>
            <a:off x="457200" y="589975"/>
            <a:ext cx="8229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Kahneman descreveu como “ilusão de validade” a confiança excessiva em previsões baseadas em padrões simples — ignorando que a combinação das variáveis muda tudo. Um score linear é exatamente esse erro.</a:t>
            </a:r>
            <a:endParaRPr b="1" i="0" sz="15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— Daniel Kahneman</a:t>
            </a:r>
            <a:endParaRPr b="1" i="0" sz="15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g3d6cbc803d6_0_32"/>
          <p:cNvSpPr/>
          <p:nvPr/>
        </p:nvSpPr>
        <p:spPr>
          <a:xfrm>
            <a:off x="457200" y="1569975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g3d6cbc803d6_0_32" title="heatmap_v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16988"/>
            <a:ext cx="8839197" cy="303058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d6cbc803d6_0_32"/>
          <p:cNvSpPr/>
          <p:nvPr/>
        </p:nvSpPr>
        <p:spPr>
          <a:xfrm>
            <a:off x="457200" y="4542975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O número de combinações possíveis entre 40 a 100 variáveis é inviável para qualquer solução humana — mas é exatamente o que machine learning resolve.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6ace79139_0_0"/>
          <p:cNvSpPr/>
          <p:nvPr/>
        </p:nvSpPr>
        <p:spPr>
          <a:xfrm>
            <a:off x="3200400" y="1680000"/>
            <a:ext cx="2057400" cy="2571600"/>
          </a:xfrm>
          <a:prstGeom prst="rect">
            <a:avLst/>
          </a:prstGeom>
          <a:solidFill>
            <a:srgbClr val="1C1810"/>
          </a:solidFill>
          <a:ln cap="flat" cmpd="sng" w="1905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Treino e monitoramento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O algoritmo é treinado nos dados reais</a:t>
            </a:r>
            <a:r>
              <a:rPr lang="en-US" sz="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e </a:t>
            </a:r>
            <a:r>
              <a:rPr b="0" i="0" lang="en-US" sz="9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é monitorado 24/7 para verificar se o resultado está dentro do desejado.</a:t>
            </a:r>
            <a:endParaRPr b="0" i="0" sz="900" u="none" cap="none" strike="noStrike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Quando detectada a necessidade, o modelo passa por um retreino com dados atualizados.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d6ace79139_0_0"/>
          <p:cNvSpPr/>
          <p:nvPr/>
        </p:nvSpPr>
        <p:spPr>
          <a:xfrm>
            <a:off x="457200" y="320040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COMO É TREINADO UM MODELO DE MACHINE 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d6ace79139_0_0"/>
          <p:cNvSpPr/>
          <p:nvPr/>
        </p:nvSpPr>
        <p:spPr>
          <a:xfrm>
            <a:off x="457200" y="548640"/>
            <a:ext cx="8229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 modelo aprende com quem já virou cliente.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d6ace79139_0_0"/>
          <p:cNvSpPr/>
          <p:nvPr/>
        </p:nvSpPr>
        <p:spPr>
          <a:xfrm>
            <a:off x="457200" y="11200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Dados históricos dos clientes treinam o modelo uma vez. Depois, ele classifica cada novo lead em tempo real com base no que foi aprendido.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d6ace79139_0_0"/>
          <p:cNvSpPr/>
          <p:nvPr/>
        </p:nvSpPr>
        <p:spPr>
          <a:xfrm>
            <a:off x="457200" y="1680000"/>
            <a:ext cx="2057400" cy="25716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Dados de entrada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1- Respostas do formulário de interesse ou landing page.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2- Dados de quem abriu conta e se tornou cliente.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3- Histórico do cliente e de clientes parecidos na organização.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4- Padrões temporais e sazonais.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d6ace79139_0_0"/>
          <p:cNvSpPr/>
          <p:nvPr/>
        </p:nvSpPr>
        <p:spPr>
          <a:xfrm>
            <a:off x="2628000" y="27432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44441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d6ace79139_0_0"/>
          <p:cNvSpPr/>
          <p:nvPr/>
        </p:nvSpPr>
        <p:spPr>
          <a:xfrm>
            <a:off x="5371200" y="27432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44441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d6ace79139_0_0"/>
          <p:cNvSpPr/>
          <p:nvPr/>
        </p:nvSpPr>
        <p:spPr>
          <a:xfrm>
            <a:off x="5943600" y="1680000"/>
            <a:ext cx="2743200" cy="25716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Output: </a:t>
            </a:r>
            <a:r>
              <a:rPr b="1" lang="en-US" sz="10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Direcionamento para as plataformas de anúncio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Classifica novos leads em tempo real, direcionando o investimento na plataforma para trazer leads com o padrão dos melhores clientes.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6cbc803d6_0_42"/>
          <p:cNvSpPr/>
          <p:nvPr/>
        </p:nvSpPr>
        <p:spPr>
          <a:xfrm>
            <a:off x="457200" y="320040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COMO FUNCIONA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d6cbc803d6_0_42"/>
          <p:cNvSpPr/>
          <p:nvPr/>
        </p:nvSpPr>
        <p:spPr>
          <a:xfrm>
            <a:off x="457200" y="54864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 sinal certo, na hora certa.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d6cbc803d6_0_42"/>
          <p:cNvSpPr/>
          <p:nvPr/>
        </p:nvSpPr>
        <p:spPr>
          <a:xfrm>
            <a:off x="457200" y="1143000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 cada lead captado, o sistema atribui uma probabilidade de ser um cliente alvo e envia esse sinal à plataforma em menos de 5 minutos.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d6cbc803d6_0_42"/>
          <p:cNvSpPr/>
          <p:nvPr/>
        </p:nvSpPr>
        <p:spPr>
          <a:xfrm>
            <a:off x="457200" y="1600200"/>
            <a:ext cx="1828800" cy="10974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d6cbc803d6_0_42"/>
          <p:cNvSpPr/>
          <p:nvPr/>
        </p:nvSpPr>
        <p:spPr>
          <a:xfrm>
            <a:off x="594360" y="1709928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d6cbc803d6_0_42"/>
          <p:cNvSpPr/>
          <p:nvPr/>
        </p:nvSpPr>
        <p:spPr>
          <a:xfrm>
            <a:off x="594360" y="1920240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Lead preenche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 formulário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d6cbc803d6_0_42"/>
          <p:cNvSpPr/>
          <p:nvPr/>
        </p:nvSpPr>
        <p:spPr>
          <a:xfrm>
            <a:off x="2322576" y="1984248"/>
            <a:ext cx="201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C29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2E2C29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d6cbc803d6_0_42"/>
          <p:cNvSpPr/>
          <p:nvPr/>
        </p:nvSpPr>
        <p:spPr>
          <a:xfrm>
            <a:off x="2514600" y="1600200"/>
            <a:ext cx="1828800" cy="10974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d6cbc803d6_0_42"/>
          <p:cNvSpPr/>
          <p:nvPr/>
        </p:nvSpPr>
        <p:spPr>
          <a:xfrm>
            <a:off x="2651760" y="1709928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d6cbc803d6_0_42"/>
          <p:cNvSpPr/>
          <p:nvPr/>
        </p:nvSpPr>
        <p:spPr>
          <a:xfrm>
            <a:off x="2651760" y="1920240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Modelo atribui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score de propensão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d6cbc803d6_0_42"/>
          <p:cNvSpPr/>
          <p:nvPr/>
        </p:nvSpPr>
        <p:spPr>
          <a:xfrm>
            <a:off x="4379976" y="1984248"/>
            <a:ext cx="201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C29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2E2C29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d6cbc803d6_0_42"/>
          <p:cNvSpPr/>
          <p:nvPr/>
        </p:nvSpPr>
        <p:spPr>
          <a:xfrm>
            <a:off x="4572000" y="1600200"/>
            <a:ext cx="1828800" cy="10974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d6cbc803d6_0_42"/>
          <p:cNvSpPr/>
          <p:nvPr/>
        </p:nvSpPr>
        <p:spPr>
          <a:xfrm>
            <a:off x="4709160" y="1709928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d6cbc803d6_0_42"/>
          <p:cNvSpPr/>
          <p:nvPr/>
        </p:nvSpPr>
        <p:spPr>
          <a:xfrm>
            <a:off x="4709160" y="1920240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Sinal enviado à plataforma via servidor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d6cbc803d6_0_42"/>
          <p:cNvSpPr/>
          <p:nvPr/>
        </p:nvSpPr>
        <p:spPr>
          <a:xfrm>
            <a:off x="6437376" y="1984248"/>
            <a:ext cx="201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C29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2E2C29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d6cbc803d6_0_42"/>
          <p:cNvSpPr/>
          <p:nvPr/>
        </p:nvSpPr>
        <p:spPr>
          <a:xfrm>
            <a:off x="6629400" y="1600200"/>
            <a:ext cx="1828800" cy="10974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d6cbc803d6_0_42"/>
          <p:cNvSpPr/>
          <p:nvPr/>
        </p:nvSpPr>
        <p:spPr>
          <a:xfrm>
            <a:off x="6766560" y="1709928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d6cbc803d6_0_42"/>
          <p:cNvSpPr/>
          <p:nvPr/>
        </p:nvSpPr>
        <p:spPr>
          <a:xfrm>
            <a:off x="6766560" y="1920240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Plataforma aprende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e traz mais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6cbc803d6_0_42"/>
          <p:cNvSpPr/>
          <p:nvPr/>
        </p:nvSpPr>
        <p:spPr>
          <a:xfrm>
            <a:off x="457200" y="2788920"/>
            <a:ext cx="5486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SINAIS QUE O MODELO USA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d6cbc803d6_0_42"/>
          <p:cNvSpPr/>
          <p:nvPr/>
        </p:nvSpPr>
        <p:spPr>
          <a:xfrm>
            <a:off x="457200" y="2999232"/>
            <a:ext cx="17721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d6cbc803d6_0_42"/>
          <p:cNvSpPr/>
          <p:nvPr/>
        </p:nvSpPr>
        <p:spPr>
          <a:xfrm>
            <a:off x="548640" y="3054096"/>
            <a:ext cx="158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Respostas do formulário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d6cbc803d6_0_42"/>
          <p:cNvSpPr/>
          <p:nvPr/>
        </p:nvSpPr>
        <p:spPr>
          <a:xfrm>
            <a:off x="2366467" y="2999232"/>
            <a:ext cx="12729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d6cbc803d6_0_42"/>
          <p:cNvSpPr/>
          <p:nvPr/>
        </p:nvSpPr>
        <p:spPr>
          <a:xfrm>
            <a:off x="2457907" y="3054096"/>
            <a:ext cx="10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Renda declarada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d6cbc803d6_0_42"/>
          <p:cNvSpPr/>
          <p:nvPr/>
        </p:nvSpPr>
        <p:spPr>
          <a:xfrm>
            <a:off x="3776472" y="2999232"/>
            <a:ext cx="19860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6cbc803d6_0_42"/>
          <p:cNvSpPr/>
          <p:nvPr/>
        </p:nvSpPr>
        <p:spPr>
          <a:xfrm>
            <a:off x="3867912" y="3054096"/>
            <a:ext cx="180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Histórico de relacionamento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d6cbc803d6_0_42"/>
          <p:cNvSpPr/>
          <p:nvPr/>
        </p:nvSpPr>
        <p:spPr>
          <a:xfrm>
            <a:off x="457200" y="3383280"/>
            <a:ext cx="14868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d6cbc803d6_0_42"/>
          <p:cNvSpPr/>
          <p:nvPr/>
        </p:nvSpPr>
        <p:spPr>
          <a:xfrm>
            <a:off x="548640" y="3438144"/>
            <a:ext cx="1303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Padrões temporais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d6cbc803d6_0_42"/>
          <p:cNvSpPr/>
          <p:nvPr/>
        </p:nvSpPr>
        <p:spPr>
          <a:xfrm>
            <a:off x="2081174" y="3383280"/>
            <a:ext cx="17721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d6cbc803d6_0_42"/>
          <p:cNvSpPr/>
          <p:nvPr/>
        </p:nvSpPr>
        <p:spPr>
          <a:xfrm>
            <a:off x="2172614" y="3438144"/>
            <a:ext cx="158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Tempo e engajamento na página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d6cbc803d6_0_42"/>
          <p:cNvSpPr/>
          <p:nvPr/>
        </p:nvSpPr>
        <p:spPr>
          <a:xfrm>
            <a:off x="5943592" y="3008442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d6cbc803d6_0_42"/>
          <p:cNvSpPr/>
          <p:nvPr/>
        </p:nvSpPr>
        <p:spPr>
          <a:xfrm>
            <a:off x="6035032" y="3063307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Interações anteriores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d6cbc803d6_0_42"/>
          <p:cNvSpPr/>
          <p:nvPr/>
        </p:nvSpPr>
        <p:spPr>
          <a:xfrm>
            <a:off x="3990424" y="3392493"/>
            <a:ext cx="17721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d6cbc803d6_0_42"/>
          <p:cNvSpPr/>
          <p:nvPr/>
        </p:nvSpPr>
        <p:spPr>
          <a:xfrm>
            <a:off x="4081864" y="3447357"/>
            <a:ext cx="158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Perfil e momento de vida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d6cbc803d6_0_42"/>
          <p:cNvSpPr/>
          <p:nvPr/>
        </p:nvSpPr>
        <p:spPr>
          <a:xfrm>
            <a:off x="5943592" y="3401755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d6cbc803d6_0_42"/>
          <p:cNvSpPr/>
          <p:nvPr/>
        </p:nvSpPr>
        <p:spPr>
          <a:xfrm>
            <a:off x="6077507" y="3438094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Comportamento na página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d6cbc803d6_0_42"/>
          <p:cNvSpPr/>
          <p:nvPr/>
        </p:nvSpPr>
        <p:spPr>
          <a:xfrm>
            <a:off x="5943517" y="3795055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d6cbc803d6_0_42"/>
          <p:cNvSpPr/>
          <p:nvPr/>
        </p:nvSpPr>
        <p:spPr>
          <a:xfrm>
            <a:off x="6077432" y="3831394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Dispositivo e navegador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d6cbc803d6_0_42"/>
          <p:cNvSpPr/>
          <p:nvPr/>
        </p:nvSpPr>
        <p:spPr>
          <a:xfrm>
            <a:off x="5943517" y="4188355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d6cbc803d6_0_42"/>
          <p:cNvSpPr/>
          <p:nvPr/>
        </p:nvSpPr>
        <p:spPr>
          <a:xfrm>
            <a:off x="6077432" y="4224694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Objetivo com o produto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RESULTADOS — 4 MESES DE OPERAÇÃO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R$ 470.000 de margem incremental verificada.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57200" y="1280160"/>
            <a:ext cx="2029968" cy="1115568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21792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R$ 470k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21792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Margem incremental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total — 4 meses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633472" y="1280160"/>
            <a:ext cx="2029968" cy="1115568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798064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r>
              <a:rPr b="1" lang="en-US" sz="2600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2/12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798064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Lançamentos 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produção com ROAS superior a controle.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809744" y="1280160"/>
            <a:ext cx="2029968" cy="1115568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974336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+</a:t>
            </a:r>
            <a:r>
              <a:rPr b="1" lang="en-US" sz="2600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92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974336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Centavos de r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eceita a mais</a:t>
            </a: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por real investido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986016" y="1280160"/>
            <a:ext cx="2029968" cy="1115568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150608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5/5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150608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8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Lançamentos estatisticamente relevantes com ROAS</a:t>
            </a: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ML &gt; Controle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4"/>
          <p:cNvGraphicFramePr/>
          <p:nvPr/>
        </p:nvGraphicFramePr>
        <p:xfrm>
          <a:off x="457200" y="25420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{1D1E10F5-3055-44FE-8798-DF22562F4E30}</a:tableStyleId>
              </a:tblPr>
              <a:tblGrid>
                <a:gridCol w="2926075"/>
                <a:gridCol w="1828800"/>
                <a:gridCol w="1828800"/>
                <a:gridCol w="164592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Período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 ML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Sem ML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Ganho ML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dez/2025 — 3 lançamentos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R$ 104.000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R$ 80.000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+R$ 24.000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jan/2026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R$ 340.000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R$ 195.000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+R$ 145.000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fev/2026 — 2 lançamentos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R$ 204.000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R$ 38.000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+R$ 166.000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A855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8A8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mar/2026 — 100% ML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A855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8A8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R$ 140.000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R$ 39.000 (est.)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+R$ 101.000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PERFORMANCE — ML VS.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Superior em 7 períodos A/B — 5 com significância estatística.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Campanhas ML e Controle rodando simultaneamente — mesmo período, mesmo produto, mesmo lançamento.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57200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48640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dez/25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48640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1.06×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48640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0.91×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48640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+17%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892808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984248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dez/25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984248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4.12×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984248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3.78×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984248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328416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419856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dez/25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419856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3.20×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419856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1.39×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419856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+130%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764024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855464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DEV19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jan/26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855464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3.64×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855464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1.89×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855464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+93%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199632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291072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fev/26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291072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4.61×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291072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1.52×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291072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+203%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635240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726680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fev/26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7726680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5.94×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726680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2.30×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7726680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+158%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57200" y="3310128"/>
            <a:ext cx="2743200" cy="1463040"/>
          </a:xfrm>
          <a:prstGeom prst="rect">
            <a:avLst/>
          </a:prstGeom>
          <a:solidFill>
            <a:srgbClr val="0D1A10"/>
          </a:solidFill>
          <a:ln cap="flat" cmpd="sng" w="12700">
            <a:solidFill>
              <a:srgbClr val="5DBA7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40080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DBA7E"/>
                </a:solidFill>
                <a:latin typeface="Georgia"/>
                <a:ea typeface="Georgia"/>
                <a:cs typeface="Georgia"/>
                <a:sym typeface="Georgia"/>
              </a:rPr>
              <a:t>28–44%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40080" y="39502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CPL das campanhas 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abaixo do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em todos os períodos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355848" y="3310128"/>
            <a:ext cx="2743200" cy="1463040"/>
          </a:xfrm>
          <a:prstGeom prst="rect">
            <a:avLst/>
          </a:prstGeom>
          <a:solidFill>
            <a:srgbClr val="0D1A10"/>
          </a:solidFill>
          <a:ln cap="flat" cmpd="sng" w="12700">
            <a:solidFill>
              <a:srgbClr val="5DBA7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538728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DBA7E"/>
                </a:solidFill>
                <a:latin typeface="Georgia"/>
                <a:ea typeface="Georgia"/>
                <a:cs typeface="Georgia"/>
                <a:sym typeface="Georgia"/>
              </a:rPr>
              <a:t>+131%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538728" y="39502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Receita mediana por real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investido vs.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simultâneo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254496" y="3310128"/>
            <a:ext cx="2743200" cy="1463040"/>
          </a:xfrm>
          <a:prstGeom prst="rect">
            <a:avLst/>
          </a:prstGeom>
          <a:solidFill>
            <a:srgbClr val="0D1A10"/>
          </a:solidFill>
          <a:ln cap="flat" cmpd="sng" w="12700">
            <a:solidFill>
              <a:srgbClr val="5DBA7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437376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DBA7E"/>
                </a:solidFill>
                <a:latin typeface="Georgia"/>
                <a:ea typeface="Georgia"/>
                <a:cs typeface="Georgia"/>
                <a:sym typeface="Georgia"/>
              </a:rPr>
              <a:t>Crescente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437376" y="39502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Efeito cumulativo a partir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do 3º lançamento — modelo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atualizado a cada ciclo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457200" y="191840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INVESTIMENTO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57200" y="54864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lang="en-US" sz="26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Planos mensais ( para perpétuos ou +6 lançamentos no ano)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57200" y="1298448"/>
            <a:ext cx="2651700" cy="32460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184840" y="1298448"/>
            <a:ext cx="2651700" cy="32460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21792" y="1426464"/>
            <a:ext cx="232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ESSENCIAL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21792" y="1645920"/>
            <a:ext cx="232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Lead scoring + CAPI + monitoramento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7"/>
          <p:cNvCxnSpPr/>
          <p:nvPr/>
        </p:nvCxnSpPr>
        <p:spPr>
          <a:xfrm>
            <a:off x="621792" y="2011680"/>
            <a:ext cx="2322600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7"/>
          <p:cNvSpPr/>
          <p:nvPr/>
        </p:nvSpPr>
        <p:spPr>
          <a:xfrm>
            <a:off x="621767" y="2050382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Setup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463040" y="2084832"/>
            <a:ext cx="148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t/>
            </a:r>
            <a:endParaRPr/>
          </a:p>
        </p:txBody>
      </p:sp>
      <p:cxnSp>
        <p:nvCxnSpPr>
          <p:cNvPr id="200" name="Google Shape;200;p7"/>
          <p:cNvCxnSpPr/>
          <p:nvPr/>
        </p:nvCxnSpPr>
        <p:spPr>
          <a:xfrm>
            <a:off x="621792" y="2345127"/>
            <a:ext cx="2322600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7"/>
          <p:cNvSpPr/>
          <p:nvPr/>
        </p:nvSpPr>
        <p:spPr>
          <a:xfrm>
            <a:off x="621742" y="2397867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Mensalidade (d+30)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463040" y="2432304"/>
            <a:ext cx="148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R$ 12.500/mês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7"/>
          <p:cNvCxnSpPr/>
          <p:nvPr/>
        </p:nvCxnSpPr>
        <p:spPr>
          <a:xfrm>
            <a:off x="621792" y="2706624"/>
            <a:ext cx="2322600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7"/>
          <p:cNvSpPr/>
          <p:nvPr/>
        </p:nvSpPr>
        <p:spPr>
          <a:xfrm>
            <a:off x="621792" y="2825496"/>
            <a:ext cx="2322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Otimização de sinal via IA (+ROAS)</a:t>
            </a:r>
            <a:endParaRPr sz="90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Atualização trimestral da IA</a:t>
            </a:r>
            <a:endParaRPr sz="90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M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onitoramento de qualidade dos dados e alertas. </a:t>
            </a:r>
            <a:endParaRPr b="0" i="0" sz="9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t/>
            </a:r>
            <a:endParaRPr sz="90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Indicado para quem está começando.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977692" y="4553590"/>
            <a:ext cx="1188600" cy="201300"/>
          </a:xfrm>
          <a:prstGeom prst="rect">
            <a:avLst/>
          </a:prstGeom>
          <a:solidFill>
            <a:srgbClr val="C8A855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005000" y="4544456"/>
            <a:ext cx="11340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MAIS POPULAR</a:t>
            </a:r>
            <a:endParaRPr b="1" sz="7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349382" y="1700483"/>
            <a:ext cx="232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300"/>
              <a:buFont typeface="Georgia"/>
              <a:buNone/>
            </a:pPr>
            <a:r>
              <a:rPr b="1" i="0" lang="en-US" sz="12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Avançado + cientista dedicado + projetos sob demanda</a:t>
            </a:r>
            <a:endParaRPr b="1" i="0" sz="12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300"/>
              <a:buFont typeface="Georgia"/>
              <a:buNone/>
            </a:pPr>
            <a:r>
              <a:t/>
            </a:r>
            <a:endParaRPr b="1" i="0" sz="12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08" name="Google Shape;208;p7"/>
          <p:cNvCxnSpPr/>
          <p:nvPr/>
        </p:nvCxnSpPr>
        <p:spPr>
          <a:xfrm>
            <a:off x="6349382" y="2082743"/>
            <a:ext cx="2322600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7"/>
          <p:cNvSpPr/>
          <p:nvPr/>
        </p:nvSpPr>
        <p:spPr>
          <a:xfrm>
            <a:off x="6349400" y="2120753"/>
            <a:ext cx="1134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Setup</a:t>
            </a:r>
            <a:endParaRPr b="0" i="0" sz="9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190680" y="2084832"/>
            <a:ext cx="148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rPr b="1" i="0" lang="en-US" sz="1000" u="none" cap="none" strike="sng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R$ 17.500</a:t>
            </a:r>
            <a:endParaRPr b="0" i="0" sz="1000" u="none" cap="none" strike="sng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7"/>
          <p:cNvCxnSpPr/>
          <p:nvPr/>
        </p:nvCxnSpPr>
        <p:spPr>
          <a:xfrm>
            <a:off x="6349432" y="2413877"/>
            <a:ext cx="2322600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7"/>
          <p:cNvSpPr/>
          <p:nvPr/>
        </p:nvSpPr>
        <p:spPr>
          <a:xfrm>
            <a:off x="7849107" y="1344429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7190680" y="2432304"/>
            <a:ext cx="148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R$ 35.000/mês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7"/>
          <p:cNvCxnSpPr/>
          <p:nvPr/>
        </p:nvCxnSpPr>
        <p:spPr>
          <a:xfrm>
            <a:off x="6349432" y="2706624"/>
            <a:ext cx="2322600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7"/>
          <p:cNvSpPr/>
          <p:nvPr/>
        </p:nvSpPr>
        <p:spPr>
          <a:xfrm>
            <a:off x="6349432" y="2825496"/>
            <a:ext cx="2322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Tudo do Avançado, mais</a:t>
            </a: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P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redição de churn</a:t>
            </a:r>
            <a:endParaRPr sz="90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Predição 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LTV</a:t>
            </a:r>
            <a:endParaRPr sz="90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C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ientista de dados </a:t>
            </a: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disponível para consultas relacionadas à área de marketing / comercial.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321034" y="1298448"/>
            <a:ext cx="2651700" cy="32460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3485647" y="1426464"/>
            <a:ext cx="232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AVANÇADO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485647" y="1645920"/>
            <a:ext cx="232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3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Essencial + </a:t>
            </a:r>
            <a:r>
              <a:rPr b="1" lang="en-US" sz="11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atualização </a:t>
            </a: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+ dashboard + audiência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7"/>
          <p:cNvCxnSpPr/>
          <p:nvPr/>
        </p:nvCxnSpPr>
        <p:spPr>
          <a:xfrm>
            <a:off x="3485647" y="2011680"/>
            <a:ext cx="2322600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7"/>
          <p:cNvSpPr/>
          <p:nvPr/>
        </p:nvSpPr>
        <p:spPr>
          <a:xfrm>
            <a:off x="3485647" y="2084832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Setup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t/>
            </a:r>
            <a:endParaRPr b="0" i="0" sz="9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326895" y="2084832"/>
            <a:ext cx="148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t/>
            </a:r>
            <a:endParaRPr b="0" i="0" sz="1000" u="none" cap="none" strike="sng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7"/>
          <p:cNvCxnSpPr/>
          <p:nvPr/>
        </p:nvCxnSpPr>
        <p:spPr>
          <a:xfrm>
            <a:off x="3485647" y="2359152"/>
            <a:ext cx="2322600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7"/>
          <p:cNvSpPr/>
          <p:nvPr/>
        </p:nvSpPr>
        <p:spPr>
          <a:xfrm>
            <a:off x="3485635" y="2464380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Mensalidade (d+30)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t/>
            </a:r>
            <a:endParaRPr sz="90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326895" y="2432304"/>
            <a:ext cx="148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R$ 17.500/mês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7"/>
          <p:cNvCxnSpPr/>
          <p:nvPr/>
        </p:nvCxnSpPr>
        <p:spPr>
          <a:xfrm>
            <a:off x="3485647" y="2706624"/>
            <a:ext cx="2322600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7"/>
          <p:cNvSpPr/>
          <p:nvPr/>
        </p:nvSpPr>
        <p:spPr>
          <a:xfrm>
            <a:off x="3485647" y="2811781"/>
            <a:ext cx="2322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Tudo do Essencial, mais</a:t>
            </a: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Atualização 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mensal </a:t>
            </a: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da IA</a:t>
            </a:r>
            <a:endParaRPr sz="90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Integração com CRM</a:t>
            </a:r>
            <a:endParaRPr sz="90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Relatórios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de performanc</a:t>
            </a: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sz="90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</a:t>
            </a: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udiência enriquecida com perfil dos melhores clientes.</a:t>
            </a:r>
            <a:endParaRPr sz="90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263465" y="2050454"/>
            <a:ext cx="148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R$ 15.</a:t>
            </a:r>
            <a:r>
              <a:rPr b="1" lang="en-US" sz="10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r>
              <a:rPr b="1" i="0" lang="en-US" sz="1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167595" y="2057454"/>
            <a:ext cx="148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R$ 1</a:t>
            </a:r>
            <a:r>
              <a:rPr b="1" lang="en-US" sz="10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r>
              <a:rPr b="1" i="0" lang="en-US" sz="1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r>
              <a:rPr b="1" lang="en-US" sz="10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r>
              <a:rPr b="1" i="0" lang="en-US" sz="1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349430" y="2491738"/>
            <a:ext cx="113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Mensalidade (d+30)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t/>
            </a:r>
            <a:endParaRPr sz="90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6274075" y="126015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PERSONALIZADO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cbc803d6_0_219"/>
          <p:cNvSpPr/>
          <p:nvPr/>
        </p:nvSpPr>
        <p:spPr>
          <a:xfrm>
            <a:off x="457200" y="191840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INVESTIMENTO</a:t>
            </a:r>
            <a:endParaRPr/>
          </a:p>
        </p:txBody>
      </p:sp>
      <p:sp>
        <p:nvSpPr>
          <p:cNvPr id="237" name="Google Shape;237;g3d6cbc803d6_0_219"/>
          <p:cNvSpPr/>
          <p:nvPr/>
        </p:nvSpPr>
        <p:spPr>
          <a:xfrm>
            <a:off x="457200" y="54864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Rev. Share (para lançamentos pontuais)</a:t>
            </a:r>
            <a:endParaRPr/>
          </a:p>
        </p:txBody>
      </p:sp>
      <p:sp>
        <p:nvSpPr>
          <p:cNvPr id="238" name="Google Shape;238;g3d6cbc803d6_0_219"/>
          <p:cNvSpPr/>
          <p:nvPr/>
        </p:nvSpPr>
        <p:spPr>
          <a:xfrm>
            <a:off x="1472000" y="1142950"/>
            <a:ext cx="2876400" cy="3521100"/>
          </a:xfrm>
          <a:prstGeom prst="rect">
            <a:avLst/>
          </a:prstGeom>
          <a:solidFill>
            <a:srgbClr val="161616"/>
          </a:solidFill>
          <a:ln cap="flat" cmpd="sng" w="13775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37764" rotWithShape="0" algn="bl" dir="8100000" dist="41329">
              <a:srgbClr val="000000">
                <a:alpha val="250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6cbc803d6_0_219"/>
          <p:cNvSpPr/>
          <p:nvPr/>
        </p:nvSpPr>
        <p:spPr>
          <a:xfrm>
            <a:off x="1650531" y="1281816"/>
            <a:ext cx="2519400" cy="21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6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COM SETUP</a:t>
            </a:r>
            <a:endParaRPr b="0" sz="976">
              <a:solidFill>
                <a:srgbClr val="C8A85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0" name="Google Shape;240;g3d6cbc803d6_0_219"/>
          <p:cNvSpPr/>
          <p:nvPr/>
        </p:nvSpPr>
        <p:spPr>
          <a:xfrm>
            <a:off x="1650531" y="1519871"/>
            <a:ext cx="2519400" cy="34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3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Setup + menor % sobre receita nova</a:t>
            </a:r>
            <a:endParaRPr b="1" sz="1193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41" name="Google Shape;241;g3d6cbc803d6_0_219"/>
          <p:cNvCxnSpPr/>
          <p:nvPr/>
        </p:nvCxnSpPr>
        <p:spPr>
          <a:xfrm rot="10800000">
            <a:off x="2910197" y="656931"/>
            <a:ext cx="0" cy="2519400"/>
          </a:xfrm>
          <a:prstGeom prst="straightConnector1">
            <a:avLst/>
          </a:prstGeom>
          <a:solidFill>
            <a:srgbClr val="FFFFFF"/>
          </a:solidFill>
          <a:ln cap="flat" cmpd="sng" w="13775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g3d6cbc803d6_0_219"/>
          <p:cNvSpPr/>
          <p:nvPr/>
        </p:nvSpPr>
        <p:spPr>
          <a:xfrm>
            <a:off x="1650500" y="1958611"/>
            <a:ext cx="892500" cy="27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76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Setup</a:t>
            </a:r>
            <a:endParaRPr b="0" sz="1076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3" name="Google Shape;243;g3d6cbc803d6_0_219"/>
          <p:cNvSpPr/>
          <p:nvPr/>
        </p:nvSpPr>
        <p:spPr>
          <a:xfrm>
            <a:off x="2563078" y="1958693"/>
            <a:ext cx="1606800" cy="27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5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R$ 25.000</a:t>
            </a:r>
            <a:endParaRPr b="1" sz="1185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44" name="Google Shape;244;g3d6cbc803d6_0_219"/>
          <p:cNvCxnSpPr/>
          <p:nvPr/>
        </p:nvCxnSpPr>
        <p:spPr>
          <a:xfrm rot="10800000">
            <a:off x="2910190" y="1018643"/>
            <a:ext cx="0" cy="2519400"/>
          </a:xfrm>
          <a:prstGeom prst="straightConnector1">
            <a:avLst/>
          </a:prstGeom>
          <a:solidFill>
            <a:srgbClr val="FFFFFF"/>
          </a:solidFill>
          <a:ln cap="flat" cmpd="sng" w="13775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g3d6cbc803d6_0_219"/>
          <p:cNvSpPr/>
          <p:nvPr/>
        </p:nvSpPr>
        <p:spPr>
          <a:xfrm>
            <a:off x="1650475" y="2335550"/>
            <a:ext cx="912600" cy="27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3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% da receita nova gerada</a:t>
            </a:r>
            <a:endParaRPr b="0" sz="1003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6" name="Google Shape;246;g3d6cbc803d6_0_219"/>
          <p:cNvSpPr/>
          <p:nvPr/>
        </p:nvSpPr>
        <p:spPr>
          <a:xfrm>
            <a:off x="2563078" y="2372904"/>
            <a:ext cx="1606800" cy="27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5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20%</a:t>
            </a:r>
            <a:endParaRPr b="1" sz="1185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7" name="Google Shape;247;g3d6cbc803d6_0_219"/>
          <p:cNvSpPr/>
          <p:nvPr/>
        </p:nvSpPr>
        <p:spPr>
          <a:xfrm>
            <a:off x="1650506" y="3031970"/>
            <a:ext cx="2519400" cy="109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Otimização de sinal via IA (+ROAS)</a:t>
            </a:r>
            <a:endParaRPr b="0" sz="93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Monitoramento de qualidade dos dados</a:t>
            </a:r>
            <a:endParaRPr b="0" sz="93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Integração com CRM</a:t>
            </a:r>
            <a:endParaRPr b="0" sz="93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Relatórios de performance</a:t>
            </a:r>
            <a:endParaRPr b="0" sz="93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Audiência enriquecida com perfil dos melhores clientes.</a:t>
            </a:r>
            <a:endParaRPr b="0" sz="93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8" name="Google Shape;248;g3d6cbc803d6_0_219"/>
          <p:cNvSpPr/>
          <p:nvPr/>
        </p:nvSpPr>
        <p:spPr>
          <a:xfrm>
            <a:off x="5319607" y="1142950"/>
            <a:ext cx="2876400" cy="3521100"/>
          </a:xfrm>
          <a:prstGeom prst="rect">
            <a:avLst/>
          </a:prstGeom>
          <a:solidFill>
            <a:srgbClr val="1A1608"/>
          </a:solidFill>
          <a:ln cap="flat" cmpd="sng" w="13775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37764" rotWithShape="0" algn="bl" dir="8100000" dist="41329">
              <a:srgbClr val="000000">
                <a:alpha val="250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d6cbc803d6_0_219"/>
          <p:cNvSpPr/>
          <p:nvPr/>
        </p:nvSpPr>
        <p:spPr>
          <a:xfrm>
            <a:off x="5498138" y="1281816"/>
            <a:ext cx="2519400" cy="21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6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SEM SETUP</a:t>
            </a:r>
            <a:endParaRPr b="0" sz="976">
              <a:solidFill>
                <a:srgbClr val="C8A85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0" name="Google Shape;250;g3d6cbc803d6_0_219"/>
          <p:cNvSpPr/>
          <p:nvPr/>
        </p:nvSpPr>
        <p:spPr>
          <a:xfrm>
            <a:off x="5498138" y="1519871"/>
            <a:ext cx="2519400" cy="34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3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Zero investimento inicial + maior % sobre receita</a:t>
            </a:r>
            <a:endParaRPr b="1" sz="1093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51" name="Google Shape;251;g3d6cbc803d6_0_219"/>
          <p:cNvCxnSpPr/>
          <p:nvPr/>
        </p:nvCxnSpPr>
        <p:spPr>
          <a:xfrm rot="10800000">
            <a:off x="6757804" y="656931"/>
            <a:ext cx="0" cy="2519400"/>
          </a:xfrm>
          <a:prstGeom prst="straightConnector1">
            <a:avLst/>
          </a:prstGeom>
          <a:solidFill>
            <a:srgbClr val="FFFFFF"/>
          </a:solidFill>
          <a:ln cap="flat" cmpd="sng" w="13775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g3d6cbc803d6_0_219"/>
          <p:cNvSpPr/>
          <p:nvPr/>
        </p:nvSpPr>
        <p:spPr>
          <a:xfrm>
            <a:off x="5498107" y="1958611"/>
            <a:ext cx="892500" cy="27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6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Setup</a:t>
            </a:r>
            <a:endParaRPr b="0" sz="976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3" name="Google Shape;253;g3d6cbc803d6_0_219"/>
          <p:cNvSpPr/>
          <p:nvPr/>
        </p:nvSpPr>
        <p:spPr>
          <a:xfrm>
            <a:off x="6410685" y="1958693"/>
            <a:ext cx="1606800" cy="27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5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Isento</a:t>
            </a:r>
            <a:endParaRPr b="1" sz="1085">
              <a:solidFill>
                <a:srgbClr val="C8A85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54" name="Google Shape;254;g3d6cbc803d6_0_219"/>
          <p:cNvCxnSpPr/>
          <p:nvPr/>
        </p:nvCxnSpPr>
        <p:spPr>
          <a:xfrm rot="10800000">
            <a:off x="6757797" y="1018643"/>
            <a:ext cx="0" cy="2519400"/>
          </a:xfrm>
          <a:prstGeom prst="straightConnector1">
            <a:avLst/>
          </a:prstGeom>
          <a:solidFill>
            <a:srgbClr val="FFFFFF"/>
          </a:solidFill>
          <a:ln cap="flat" cmpd="sng" w="13775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g3d6cbc803d6_0_219"/>
          <p:cNvSpPr/>
          <p:nvPr/>
        </p:nvSpPr>
        <p:spPr>
          <a:xfrm>
            <a:off x="5498086" y="2335553"/>
            <a:ext cx="892500" cy="27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3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% da receita nova gerada</a:t>
            </a:r>
            <a:endParaRPr b="0" sz="903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6" name="Google Shape;256;g3d6cbc803d6_0_219"/>
          <p:cNvSpPr/>
          <p:nvPr/>
        </p:nvSpPr>
        <p:spPr>
          <a:xfrm>
            <a:off x="6410685" y="2372904"/>
            <a:ext cx="1606800" cy="27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5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25%</a:t>
            </a:r>
            <a:endParaRPr b="1" sz="1085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7" name="Google Shape;257;g3d6cbc803d6_0_219"/>
          <p:cNvSpPr/>
          <p:nvPr/>
        </p:nvSpPr>
        <p:spPr>
          <a:xfrm>
            <a:off x="5498138" y="2799420"/>
            <a:ext cx="2519400" cy="109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Otimização de sinal via IA (+ROAS)</a:t>
            </a:r>
            <a:endParaRPr b="0" sz="83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Monitoramento de qualidade dos dados</a:t>
            </a:r>
            <a:endParaRPr b="0" sz="83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Integração com CRM</a:t>
            </a:r>
            <a:endParaRPr b="0" sz="83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Relatórios de performance</a:t>
            </a:r>
            <a:endParaRPr b="0" sz="83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✅ Audiência enriquecida com perfil dos melhores clientes.</a:t>
            </a:r>
            <a:endParaRPr b="0" sz="830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8" name="Google Shape;258;g3d6cbc803d6_0_219"/>
          <p:cNvSpPr/>
          <p:nvPr/>
        </p:nvSpPr>
        <p:spPr>
          <a:xfrm>
            <a:off x="6295439" y="4664064"/>
            <a:ext cx="1230000" cy="19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9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RECOMENDADO</a:t>
            </a:r>
            <a:endParaRPr b="1" sz="759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9" name="Google Shape;259;g3d6cbc803d6_0_219"/>
          <p:cNvSpPr/>
          <p:nvPr/>
        </p:nvSpPr>
        <p:spPr>
          <a:xfrm>
            <a:off x="6265806" y="4673973"/>
            <a:ext cx="1289400" cy="218400"/>
          </a:xfrm>
          <a:prstGeom prst="rect">
            <a:avLst/>
          </a:prstGeom>
          <a:solidFill>
            <a:srgbClr val="C8A855"/>
          </a:solidFill>
          <a:ln cap="flat" cmpd="sng" w="13775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MAIS POPULAR</a:t>
            </a:r>
            <a:endParaRPr b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6cbc803d6_0_87"/>
          <p:cNvSpPr/>
          <p:nvPr/>
        </p:nvSpPr>
        <p:spPr>
          <a:xfrm>
            <a:off x="457200" y="520000"/>
            <a:ext cx="82296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Além do aumento de ROAS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d6cbc803d6_0_87"/>
          <p:cNvSpPr/>
          <p:nvPr/>
        </p:nvSpPr>
        <p:spPr>
          <a:xfrm>
            <a:off x="457200" y="940000"/>
            <a:ext cx="82296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À medida que a operação acumula dados, novas análises se tornam possíveis</a:t>
            </a:r>
            <a:r>
              <a:rPr lang="en-US" sz="1000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d6cbc803d6_0_87"/>
          <p:cNvSpPr/>
          <p:nvPr/>
        </p:nvSpPr>
        <p:spPr>
          <a:xfrm>
            <a:off x="457200" y="1220000"/>
            <a:ext cx="390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EXPANSÃO</a:t>
            </a:r>
            <a:r>
              <a:rPr b="1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 DO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d6cbc803d6_0_87"/>
          <p:cNvSpPr/>
          <p:nvPr/>
        </p:nvSpPr>
        <p:spPr>
          <a:xfrm>
            <a:off x="4600000" y="1220000"/>
            <a:ext cx="4086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SERVIÇOS SOB DEMANDA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d6cbc803d6_0_87"/>
          <p:cNvSpPr/>
          <p:nvPr/>
        </p:nvSpPr>
        <p:spPr>
          <a:xfrm>
            <a:off x="457200" y="1480000"/>
            <a:ext cx="3900000" cy="2679900"/>
          </a:xfrm>
          <a:prstGeom prst="rect">
            <a:avLst/>
          </a:prstGeom>
          <a:solidFill>
            <a:srgbClr val="1C1810"/>
          </a:solidFill>
          <a:ln cap="flat" cmpd="sng" w="1905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00000" lIns="200000" spcFirstLastPara="1" rIns="200000" wrap="square" tIns="20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Predição de churn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Identificar clientes com risco de saída antes que saiam.</a:t>
            </a:r>
            <a:endParaRPr b="0" i="0" sz="800" u="none" cap="none" strike="noStrike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Predição de LTV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Estimar o valor potencial de cada novo lead antes do atendimento</a:t>
            </a:r>
            <a:r>
              <a:rPr lang="en-US" sz="80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800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Score de reativação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Ranquear inativos por probabilidade de retorno.</a:t>
            </a:r>
            <a:endParaRPr b="0" i="0" sz="800" u="none" cap="none" strike="noStrike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Audiência personalizada enriquecida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Novos </a:t>
            </a: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Lookalikes </a:t>
            </a:r>
            <a:r>
              <a:rPr lang="en-US" sz="80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atualizados automaticamente com</a:t>
            </a: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 p</a:t>
            </a:r>
            <a:r>
              <a:rPr lang="en-US" sz="80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úblicos propensos à compra</a:t>
            </a: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, não leads gera</a:t>
            </a:r>
            <a:r>
              <a:rPr lang="en-US" sz="80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is ou clientes.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d6cbc803d6_0_87"/>
          <p:cNvSpPr/>
          <p:nvPr/>
        </p:nvSpPr>
        <p:spPr>
          <a:xfrm>
            <a:off x="4600000" y="1480000"/>
            <a:ext cx="4086900" cy="26799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00000" lIns="200000" spcFirstLastPara="1" rIns="200000" wrap="square" tIns="20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Rastreamento e qualidade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Auditar e estruturar a coleta de dados para viabilizar modelos futuros.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Integração com CRM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Conectar o sistema de scoring ao CRM para priorizar follow-up automaticamente.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Análise de cohort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Entender o comportamento de grupos de clientes ao longo do tempo.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Análise de precificação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Modelos para otimizar ticket, oferta ou segmentação por capacidade de pagamento.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Experimentos A/B estruturados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Desenho e análise de experimentos para validar hipóteses com rigor estatístico.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SOBRE O DESENVOLVEDOR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57200" y="658415"/>
            <a:ext cx="8229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7 anos de mercado.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ML construído de dentro da operação.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t/>
            </a:r>
            <a:endParaRPr b="1" sz="2800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57200" y="1627632"/>
            <a:ext cx="4160520" cy="196596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640080" y="175564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EXPERIÊNCIA DE MERCADO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40080" y="1975104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+120 lançamentos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40080" y="2377440"/>
            <a:ext cx="3794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Operações 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dezenas de milhares de clientes</a:t>
            </a: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no mercado de educação online. O 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sistema foi construído </a:t>
            </a: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com contexto de quem estudou 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 </a:t>
            </a: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executou — 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teoria e prática.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828032" y="1627632"/>
            <a:ext cx="3858768" cy="196596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5010912" y="1755648"/>
            <a:ext cx="3493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FORMAÇÃO TÉCNICA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010912" y="2066542"/>
            <a:ext cx="34929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Char char="•"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Stanford University — 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Char char="•"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University of Michigan — Python for Everyone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Char char="•"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DeepLearning.AI — ML in Production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Char char="•"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Google — ML Engineer Certificate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Char char="•"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MLOps Community — First Stack MLOps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Char char="•"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IBM — Databases &amp; SQL for Data Science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57200" y="3730752"/>
            <a:ext cx="8229600" cy="105156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57200" y="3730752"/>
            <a:ext cx="54864" cy="1051560"/>
          </a:xfrm>
          <a:prstGeom prst="rect">
            <a:avLst/>
          </a:prstGeom>
          <a:solidFill>
            <a:srgbClr val="C8A855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685800" y="3913632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706D65"/>
                </a:solidFill>
                <a:latin typeface="Georgia"/>
                <a:ea typeface="Georgia"/>
                <a:cs typeface="Georgia"/>
                <a:sym typeface="Georgia"/>
              </a:rPr>
              <a:t>"Em Deus nós confiamos, os demais, tragam me os dados."</a:t>
            </a:r>
            <a:endParaRPr b="0" i="1" sz="1300" u="none" cap="none" strike="noStrike">
              <a:solidFill>
                <a:srgbClr val="706D6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706D65"/>
                </a:solidFill>
                <a:latin typeface="Georgia"/>
                <a:ea typeface="Georgia"/>
                <a:cs typeface="Georgia"/>
                <a:sym typeface="Georgia"/>
              </a:rPr>
              <a:t>"In God we trust, all the others must bring data."</a:t>
            </a:r>
            <a:endParaRPr b="0" i="1" sz="1300" u="none" cap="none" strike="noStrike">
              <a:solidFill>
                <a:srgbClr val="706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685800" y="4279392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— W. Edwards Deming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010905" y="1933979"/>
            <a:ext cx="3794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200"/>
              <a:buFont typeface="Georgia"/>
              <a:buNone/>
            </a:pPr>
            <a:r>
              <a:rPr b="1" lang="en-US" sz="11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Machine Learning Engineer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2026-03-25T18:30:10Z</dcterms:created>
  <dc:creator>PptxGenJS</dc:creator>
</cp:coreProperties>
</file>