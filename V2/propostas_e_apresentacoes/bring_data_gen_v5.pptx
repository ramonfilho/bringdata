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0T23uKW1DKGmxReYXnXJXT/60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0E8958-B3B6-4539-8031-1153B900D367}">
  <a:tblStyle styleId="{280E8958-B3B6-4539-8031-1153B900D36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361174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+92% de retorno verificado em operações reais de infoproduto.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C8A855">
              <a:alpha val="12156"/>
            </a:srgbClr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50292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BRING DATA — SISTEMA DE ML PARA ANÚNCIOS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700" y="1093225"/>
            <a:ext cx="71322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sistema que ensina a plataforma a trazer compradores</a:t>
            </a:r>
            <a:endParaRPr b="1" i="0" sz="3400" u="none" cap="none" strike="noStrike">
              <a:solidFill>
                <a:srgbClr val="F0EDE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90" y="2000255"/>
            <a:ext cx="7132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— não leads.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583680" y="3017520"/>
            <a:ext cx="1828800" cy="1463040"/>
          </a:xfrm>
          <a:prstGeom prst="rect">
            <a:avLst/>
          </a:prstGeom>
          <a:solidFill>
            <a:srgbClr val="110F00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720840" y="36576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 </a:t>
            </a:r>
            <a:r>
              <a:rPr b="1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margem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extra verificada</a:t>
            </a: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em 4 meses com investimento de R$508k</a:t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720840" y="31546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R$470k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3228600" y="1780000"/>
            <a:ext cx="2600000" cy="24000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</a:t>
            </a:r>
            <a:r>
              <a:rPr b="1" lang="en-US" sz="11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evento define o 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Se o sinal enviado é fraco a IA</a:t>
            </a:r>
            <a:r>
              <a:rPr lang="en-US" sz="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continua trazendo os perfis errados</a:t>
            </a:r>
            <a:r>
              <a:rPr lang="en-US" sz="9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2500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Meta, TikTok, Google — usam inteligência artificial para decidir quem vê cada anúncio.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320040"/>
            <a:ext cx="82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52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Toda plataforma de anúncios tem uma IA que aprende com os sinais que recebe.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1780000"/>
            <a:ext cx="2600000" cy="24000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Aprende com </a:t>
            </a:r>
            <a:r>
              <a:rPr b="1" lang="en-US" sz="11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 cada </a:t>
            </a:r>
            <a:r>
              <a:rPr lang="en-US" sz="9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evento</a:t>
            </a: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 a IA atualiza o modelo de quem deve ver o próximo anúncio.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000000" y="1780000"/>
            <a:ext cx="2686800" cy="24000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Controlar o evento é controlar o 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 qualidade do sinal enviado à plataforma é o principal fator que separa campanhas que lucram das que desperdiçam verba.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457200" y="347472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PROBLEMA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566928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As falhas do leadscore clássico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1691640"/>
            <a:ext cx="4023300" cy="11886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40080" y="18562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Usar s</a:t>
            </a:r>
            <a:r>
              <a:rPr b="1" i="0" lang="en-US" sz="1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egmentação por interesses </a:t>
            </a:r>
            <a:r>
              <a:rPr b="1" lang="en-US" sz="12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ou características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40075" y="2223962"/>
            <a:ext cx="36576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Especificações dentro da plataforma trazem um perfil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genérico, não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quem vai ser cliente.</a:t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706D6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663440" y="1691640"/>
            <a:ext cx="4023300" cy="11886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846320" y="18562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Generalizar lógica de negócio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846320" y="2130552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Cada operação tem um perfil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único 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 clientes que converte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enhuma segmentação manual consegue capturar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 essa especificidade.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57200" y="3063240"/>
            <a:ext cx="4023300" cy="11886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40080" y="32278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Resultado imprevisível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40080" y="3502152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Lead parece qualificado na captura — mas não compra</a:t>
            </a:r>
            <a:r>
              <a:rPr lang="en-US" sz="1000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663440" y="3063240"/>
            <a:ext cx="4023300" cy="1188600"/>
          </a:xfrm>
          <a:prstGeom prst="rect">
            <a:avLst/>
          </a:prstGeom>
          <a:solidFill>
            <a:srgbClr val="C8A855">
              <a:alpha val="12160"/>
            </a:srgbClr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846320" y="32278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Assunção da </a:t>
            </a:r>
            <a:r>
              <a:rPr b="1" lang="en-US" sz="1200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linearidade</a:t>
            </a:r>
            <a:endParaRPr b="0" i="0" sz="1200" u="none" cap="none" strike="noStrike">
              <a:solidFill>
                <a:srgbClr val="C8A8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846320" y="3502152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Alguns tentam criar regras de pontuação de leads. O problema: regras fixas assumem linearidade. É um chute bem informado.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457200" y="320040"/>
            <a:ext cx="82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589975"/>
            <a:ext cx="8229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Kahneman descreveu como “ilusão de validade” a confiança excessiva em previsões baseadas em padrões simples — ignorando que a combinação das variáveis muda tudo. Um score linear é exatamente esse erro.</a:t>
            </a:r>
            <a:endParaRPr b="1" i="0" sz="15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— Daniel Kahneman</a:t>
            </a:r>
            <a:endParaRPr b="1" i="0" sz="15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1569975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5" title="heatmap_v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16988"/>
            <a:ext cx="8839197" cy="303058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457200" y="4542975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O número de combinações possíveis entre 40 a 100 variáveis é inviável para qualquer solução humana — mas é exatamente o que machine learning resolve.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3200400" y="1680000"/>
            <a:ext cx="2057400" cy="25716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Treino e monitoramento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O algoritmo é treinado nos dados reais e é monitorado 24/7 para verificar se o resultado está dentro do desejado.</a:t>
            </a:r>
            <a:endParaRPr b="0" i="0" sz="900" u="none" cap="none" strike="noStrike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Quando detectada a necessidade, o modelo passa por um retreino com dados atualizados.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32004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É TREINADO UM MODELO DE MACHINE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548640"/>
            <a:ext cx="8229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 modelo aprende com quem já virou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11200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Dados históricos dos clientes treinam o modelo uma vez. Depois, ele classifica cada novo lead em tempo real com base no que foi aprendido.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1680000"/>
            <a:ext cx="2057400" cy="2571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Dados de entrada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1- Respostas do formulário de interesse ou landing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2- Dados de quem preencheu o formulário e efetivamente comprou.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3- Histórico do cliente e de clientes parecidos na organização.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4- Padrões temporais e sazonais.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2628000" y="27432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444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371200" y="27432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444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943600" y="1680000"/>
            <a:ext cx="2743200" cy="2571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Output: Direcionamento para as plataformas de anúncio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Classifica novos leads em tempo real, direcionando o investimento na plataforma para trazer leads com o padrão dos melhores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457200" y="32004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FUNCIONA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sinal certo, na hora certa.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1143000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 cada lead captado, o sistema atribui uma probabilidade de ser um cliente alvo e envia esse sinal à plataforma em menos de 5 minutos.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57200" y="1600200"/>
            <a:ext cx="1828800" cy="10974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94360" y="17099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94360" y="19202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Lead preenche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o formulário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322576" y="1984248"/>
            <a:ext cx="20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2514600" y="1600200"/>
            <a:ext cx="1828800" cy="10974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2651760" y="17099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2651760" y="19202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Modelo atribui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score de propensão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379976" y="1984248"/>
            <a:ext cx="20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72000" y="1600200"/>
            <a:ext cx="1828800" cy="10974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709160" y="17099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709160" y="19202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Sinal enviado à plataforma via servidor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437376" y="1984248"/>
            <a:ext cx="20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C29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2E2C29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629400" y="1600200"/>
            <a:ext cx="1828800" cy="10974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766560" y="17099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766560" y="1920240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Plataforma aprende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e traz mais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57200" y="2788920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SINAIS QUE O MODELO USA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57200" y="2999232"/>
            <a:ext cx="17721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48640" y="3054096"/>
            <a:ext cx="158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Respostas do formulário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366467" y="2999232"/>
            <a:ext cx="12729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457907" y="3054096"/>
            <a:ext cx="10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Renda declarada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776472" y="2999232"/>
            <a:ext cx="19860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867912" y="3054096"/>
            <a:ext cx="180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Histórico de relacionamento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57200" y="3383280"/>
            <a:ext cx="14868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8640" y="3438144"/>
            <a:ext cx="130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Padrões temporais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081174" y="3383280"/>
            <a:ext cx="17721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172614" y="3438144"/>
            <a:ext cx="158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Tempo e engajamento na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943592" y="3008442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035032" y="3063307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Interações anteriores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990424" y="3392493"/>
            <a:ext cx="1772100" cy="274200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081864" y="3447357"/>
            <a:ext cx="158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Perfil e momento de vida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943592" y="34017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077507" y="34380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Comportamento na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943517" y="37950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077432" y="38313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Dispositivo e navegador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943517" y="4188355"/>
            <a:ext cx="2128800" cy="2742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077432" y="4224694"/>
            <a:ext cx="19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Objetivo com o produto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RESULTADOS — 4 MESES DE OPERAÇÃO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R$ 470.000 de margem incremental verificada.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57200" y="1280160"/>
            <a:ext cx="2029968" cy="1115568"/>
          </a:xfrm>
          <a:prstGeom prst="rect">
            <a:avLst/>
          </a:prstGeom>
          <a:solidFill>
            <a:srgbClr val="1A1608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21792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R$ 470k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21792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Margem incremental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total — 4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633472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798064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12/12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798064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Lançamentos 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produção com ROAS superior a controle.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809744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974336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+92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974336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Centavos de receita a mais por real investido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986016" y="1280160"/>
            <a:ext cx="2029968" cy="1115568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150608" y="1417320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5/5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7150608" y="1938528"/>
            <a:ext cx="1700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8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Lançamentos estatisticamente relevantes com ROAS</a:t>
            </a: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ML &gt; Controle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8"/>
          <p:cNvGraphicFramePr/>
          <p:nvPr/>
        </p:nvGraphicFramePr>
        <p:xfrm>
          <a:off x="457200" y="2542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{280E8958-B3B6-4539-8031-1153B900D367}</a:tableStyleId>
              </a:tblPr>
              <a:tblGrid>
                <a:gridCol w="2926075"/>
                <a:gridCol w="1828800"/>
                <a:gridCol w="1828800"/>
                <a:gridCol w="16459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Período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Sem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900"/>
                        <a:buFont typeface="Courier New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Ganho ML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dez/2025 — 3 lançamentos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R$ 104.000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R$ 80.000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+R$ 24.000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jan/2026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R$ 340.000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R$ 195.000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+R$ 145.000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fev/2026 — 2 lançamentos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EDE6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F0EDE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R$ 204.000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R$ 38.000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+R$ 166.000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A855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A8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mar/2026 — 100% ML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A855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A85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R$ 140.000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6D65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706D6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R$ 39.000 (est.)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BA7E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DBA7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+R$ 101.000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Superior em 12/12 </a:t>
            </a:r>
            <a:r>
              <a:rPr b="1" lang="en-US" sz="26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períodos, </a:t>
            </a:r>
            <a:r>
              <a:rPr b="1" i="0" lang="en-US" sz="26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7 </a:t>
            </a:r>
            <a:r>
              <a:rPr b="1" lang="en-US" sz="2600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testes</a:t>
            </a:r>
            <a:r>
              <a:rPr b="1" i="0" lang="en-US" sz="26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 A/B — 5 com significância estatística.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Campanhas ML e Controle rodando simultaneamente — mesmo período, mesmo produto, mesmo lançamento.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48640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48640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1.06×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48640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0.91×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48640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892808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984248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984248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4.12×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984248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3.78×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984248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328416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419856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dez/25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419856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3.20×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419856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1.39×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419856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+130%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764024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855464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DEV19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jan/26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855464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3.64×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855464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1.89×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855464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+93%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199632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291072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fev/26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291072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4.61×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291072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1.52×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291072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+203%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7635240" y="1481328"/>
            <a:ext cx="1344168" cy="169164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726680" y="1572768"/>
            <a:ext cx="1161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LF44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fev/26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7726680" y="1938528"/>
            <a:ext cx="11612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8A855"/>
                </a:solidFill>
                <a:latin typeface="Georgia"/>
                <a:ea typeface="Georgia"/>
                <a:cs typeface="Georgia"/>
                <a:sym typeface="Georgia"/>
              </a:rPr>
              <a:t>5.94×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726680" y="2359152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Ctrl: 2.30×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726680" y="260604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DBA7E"/>
                </a:solidFill>
                <a:latin typeface="Courier New"/>
                <a:ea typeface="Courier New"/>
                <a:cs typeface="Courier New"/>
                <a:sym typeface="Courier New"/>
              </a:rPr>
              <a:t>+158%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57200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0080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28–44%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40080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CPL das campanhas 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abaixo do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em todos os períodos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355848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538728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+131%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538728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Receita mediana por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investido vs. Controle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simultâneo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254496" y="3310128"/>
            <a:ext cx="2743200" cy="1463040"/>
          </a:xfrm>
          <a:prstGeom prst="rect">
            <a:avLst/>
          </a:prstGeom>
          <a:solidFill>
            <a:srgbClr val="0D1A10"/>
          </a:solidFill>
          <a:ln cap="flat" cmpd="sng" w="12700">
            <a:solidFill>
              <a:srgbClr val="5DBA7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437376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BA7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DBA7E"/>
                </a:solidFill>
                <a:latin typeface="Georgia"/>
                <a:ea typeface="Georgia"/>
                <a:cs typeface="Georgia"/>
                <a:sym typeface="Georgia"/>
              </a:rPr>
              <a:t>Crescente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437376" y="39502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Efeito cumulativo a partir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do 3º lançamento — modelo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atualizado a cada ciclo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457200" y="520000"/>
            <a:ext cx="82296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Além do aumento de ROAS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57200" y="940000"/>
            <a:ext cx="82296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À medida que a operação acumula dados, novas análises se tornam possíveis</a:t>
            </a:r>
            <a:r>
              <a:rPr lang="en-US" sz="1000">
                <a:solidFill>
                  <a:srgbClr val="8887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57200" y="1220000"/>
            <a:ext cx="390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EXPANSÃO</a:t>
            </a:r>
            <a:r>
              <a:rPr b="1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 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600000" y="1220000"/>
            <a:ext cx="4086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SERVIÇOS SOB DEMANDA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57200" y="1480000"/>
            <a:ext cx="3900000" cy="2679900"/>
          </a:xfrm>
          <a:prstGeom prst="rect">
            <a:avLst/>
          </a:prstGeom>
          <a:solidFill>
            <a:srgbClr val="1C1810"/>
          </a:solidFill>
          <a:ln cap="flat" cmpd="sng" w="1905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Predição de churn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Identificar clientes com risco de saída antes que saiam.</a:t>
            </a:r>
            <a:endParaRPr b="0" i="0" sz="800" u="none" cap="none" strike="noStrike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Predição de LTV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Estimar o valor potencial de cada novo lead antes do atendimento</a:t>
            </a: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800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Score de reativação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Ranquear inativos por probabilidade de retorno.</a:t>
            </a:r>
            <a:endParaRPr b="0" i="0" sz="800" u="none" cap="none" strike="noStrike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AAAA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Audiência personalizada enriquecida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Novos </a:t>
            </a: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Lookalikes </a:t>
            </a: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atualizados automaticamente com</a:t>
            </a: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 p</a:t>
            </a: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úblicos propensos à compra</a:t>
            </a: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, não leads gera</a:t>
            </a:r>
            <a:r>
              <a:rPr lang="en-US" sz="800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is ou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600000" y="1480000"/>
            <a:ext cx="4086900" cy="26799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Rastreamento e qualidade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Auditar e estruturar a coleta de dados para viabilizar modelos futuros.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Integração com CRM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Conectar o sistema de scoring ao CRM para priorizar follow-up automaticamente.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Análise de cohort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Entender o comportamento de grupos de clientes ao longo do tempo.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Análise de precificação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Modelos para otimizar ticket, oferta ou segmentação por capacidade de pagamento.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Experimentos A/B estruturados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Desenho e análise de experimentos para validar hipóteses com rigor estatístico.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SOBRE O DESENVOLVEDOR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57200" y="54864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7 anos de mercado.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ML construído de dentro da operação.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57200" y="1627632"/>
            <a:ext cx="4160520" cy="196596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40080" y="175564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EXPERIÊNCIA DE MERCADO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40080" y="1975104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Fundador da Bring Data.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40080" y="2377440"/>
            <a:ext cx="3794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Sete anos operando no mercado digital, com passagem por mais de 120 ciclos de captação em infoprodutos e educação online. O sistema nasceu da operação real — e construído por quem entende tanto o dado quanto o negócio.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828032" y="1627632"/>
            <a:ext cx="3858768" cy="196596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010912" y="1755648"/>
            <a:ext cx="3493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FORMAÇÃO TÉCNICA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010912" y="2066542"/>
            <a:ext cx="3492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Stanford University — 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University of Michigan — Python for Everyone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DeepLearning.AI — ML in Production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Google — ML Engineer Certificate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MLOps Community — First Stack MLOps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900"/>
              <a:buFont typeface="Courier New"/>
              <a:buChar char="•"/>
            </a:pPr>
            <a:r>
              <a:rPr b="0" i="0" lang="en-US" sz="900" u="none" cap="none" strike="noStrike">
                <a:solidFill>
                  <a:srgbClr val="706D65"/>
                </a:solidFill>
                <a:latin typeface="Courier New"/>
                <a:ea typeface="Courier New"/>
                <a:cs typeface="Courier New"/>
                <a:sym typeface="Courier New"/>
              </a:rPr>
              <a:t>IBM — Databases &amp; SQL for Data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57200" y="3730752"/>
            <a:ext cx="8229600" cy="105156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57200" y="3730752"/>
            <a:ext cx="54864" cy="1051560"/>
          </a:xfrm>
          <a:prstGeom prst="rect">
            <a:avLst/>
          </a:prstGeom>
          <a:solidFill>
            <a:srgbClr val="C8A855"/>
          </a:solidFill>
          <a:ln cap="flat" cmpd="sng" w="12700">
            <a:solidFill>
              <a:srgbClr val="C8A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85800" y="391363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706D65"/>
                </a:solidFill>
                <a:latin typeface="Georgia"/>
                <a:ea typeface="Georgia"/>
                <a:cs typeface="Georgia"/>
                <a:sym typeface="Georgia"/>
              </a:rPr>
              <a:t>"Em Deus nós confiamos, os demais, tragam me os dados."</a:t>
            </a:r>
            <a:endParaRPr b="0" i="1" sz="1300" u="none" cap="none" strike="noStrike">
              <a:solidFill>
                <a:srgbClr val="706D6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6D65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706D65"/>
                </a:solidFill>
                <a:latin typeface="Georgia"/>
                <a:ea typeface="Georgia"/>
                <a:cs typeface="Georgia"/>
                <a:sym typeface="Georgia"/>
              </a:rPr>
              <a:t>"In God we trust, all the others must bring data."</a:t>
            </a:r>
            <a:endParaRPr b="0" i="1" sz="1300" u="none" cap="none" strike="noStrike">
              <a:solidFill>
                <a:srgbClr val="706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85800" y="4279392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A8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— W. Edwards Deming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010905" y="1933979"/>
            <a:ext cx="3794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2200"/>
              <a:buFont typeface="Georgia"/>
              <a:buNone/>
            </a:pPr>
            <a:r>
              <a:rPr b="1" i="0" lang="en-US" sz="1100" u="none" cap="none" strike="noStrike">
                <a:solidFill>
                  <a:srgbClr val="F0EDE6"/>
                </a:solidFill>
                <a:latin typeface="Georgia"/>
                <a:ea typeface="Georgia"/>
                <a:cs typeface="Georgia"/>
                <a:sym typeface="Georgia"/>
              </a:rPr>
              <a:t>Machine Learning Engineer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COMO ISSO PODE SE ENCAIXAR</a:t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457200" y="548640"/>
            <a:ext cx="82296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0ECE0"/>
                </a:solidFill>
                <a:latin typeface="Georgia"/>
                <a:ea typeface="Georgia"/>
                <a:cs typeface="Georgia"/>
                <a:sym typeface="Georgia"/>
              </a:rPr>
              <a:t>Como isso pode se encaixar numa operação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0ECE0"/>
                </a:solidFill>
                <a:latin typeface="Georgia"/>
                <a:ea typeface="Georgia"/>
                <a:cs typeface="Georgia"/>
                <a:sym typeface="Georgia"/>
              </a:rPr>
              <a:t>— formatos não excludentes.</a:t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457200" y="1400000"/>
            <a:ext cx="2600000" cy="29000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60000" y="1500000"/>
            <a:ext cx="24000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01 — Cliente direto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O sistema é aplicado em projetos próprios ou de clientes. Setup pontual, resultado verificável no primeiro ciclo. </a:t>
            </a:r>
            <a:r>
              <a:rPr lang="en-US" sz="8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Valor mensal.</a:t>
            </a:r>
            <a:endParaRPr b="1" sz="900">
              <a:solidFill>
                <a:srgbClr val="C8A8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3186000" y="1400000"/>
            <a:ext cx="2600000" cy="29000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3290000" y="1500000"/>
            <a:ext cx="24000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02 — Revenue share</a:t>
            </a:r>
            <a:endParaRPr b="1" sz="900">
              <a:solidFill>
                <a:srgbClr val="C8A8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Setup e valores recorrentes descartados em troca de uma fatia do faturamento </a:t>
            </a:r>
            <a:r>
              <a:rPr b="1" lang="en-US" sz="8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extra</a:t>
            </a:r>
            <a:r>
              <a:rPr lang="en-US" sz="8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gerado.</a:t>
            </a:r>
            <a:endParaRPr sz="8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915000" y="1400000"/>
            <a:ext cx="2600000" cy="29000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020000" y="1500000"/>
            <a:ext cx="24000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C8A855"/>
                </a:solidFill>
                <a:latin typeface="Courier New"/>
                <a:ea typeface="Courier New"/>
                <a:cs typeface="Courier New"/>
                <a:sym typeface="Courier New"/>
              </a:rPr>
              <a:t>03 — Projeto piloto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Um ciclo de teste com um cliente real de um ecossistema, resultado mensurado antes de qualquer compromisso estruturado.</a:t>
            </a:r>
            <a:endParaRPr sz="8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2026-03-25T18:30:10Z</dcterms:created>
  <dc:creator>PptxGenJS</dc:creator>
</cp:coreProperties>
</file>