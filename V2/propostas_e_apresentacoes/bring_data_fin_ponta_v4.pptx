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drgC53kIDvxQwA84ceaE8luPe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B4653A-1AE4-4EDE-82A6-2D9A39032A5B}">
  <a:tblStyle styleId="{6DB4653A-1AE4-4EDE-82A6-2D9A39032A5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6ad0e4a1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d6ad0e4a1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6ad0e4a1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d6ad0e4a1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02750" y="1085575"/>
            <a:ext cx="6795300" cy="21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t/>
            </a:r>
            <a:endParaRPr b="0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Aumentar AUC/AUM + </a:t>
            </a:r>
            <a:endParaRPr b="0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Wallet Share </a:t>
            </a:r>
            <a:endParaRPr b="0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é diferente de</a:t>
            </a:r>
            <a:endParaRPr b="0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investir em leads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t/>
            </a:r>
            <a:endParaRPr b="0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C8A855">
              <a:alpha val="12156"/>
            </a:srgbClr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50292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BRING DATA — SISTEMA DE ML PARA OTIMIZAÇÃO DE ANÚNCIOS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61174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Como fazer as plataformas de advertisement trazerem resultados alinhados com os KPI's da empresa, e não apenas leads.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583680" y="3017520"/>
            <a:ext cx="1828800" cy="1463040"/>
          </a:xfrm>
          <a:prstGeom prst="rect">
            <a:avLst/>
          </a:prstGeom>
          <a:solidFill>
            <a:srgbClr val="110F00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720840" y="36576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Case em vendas online: 92 centavos de margem </a:t>
            </a:r>
            <a:r>
              <a:rPr b="1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extra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para cada R$1 investido em anúncios </a:t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720840" y="31546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R$ 470k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/>
          <p:nvPr/>
        </p:nvSpPr>
        <p:spPr>
          <a:xfrm>
            <a:off x="457200" y="548640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Quando você anuncia online, nem todo lead tem o mesmo valor.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3"/>
          <p:cNvSpPr/>
          <p:nvPr/>
        </p:nvSpPr>
        <p:spPr>
          <a:xfrm>
            <a:off x="457200" y="1160000"/>
            <a:ext cx="82296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A plataforma de anúncios otimiza para quem clica e preenche o formulário. Não para quem vai trazer mais AuC ou LTV.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3"/>
          <p:cNvSpPr/>
          <p:nvPr/>
        </p:nvSpPr>
        <p:spPr>
          <a:xfrm>
            <a:off x="457500" y="1784325"/>
            <a:ext cx="2743200" cy="24000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Leads chegam em volume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 cada campanha, dezenas ou centenas de pessoas preenchem o formulário. Volume não é problema. Qualidade 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3"/>
          <p:cNvSpPr/>
          <p:nvPr/>
        </p:nvSpPr>
        <p:spPr>
          <a:xfrm>
            <a:off x="3314700" y="1784325"/>
            <a:ext cx="2743200" cy="24000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 maioria não vira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Na assessoria de investimentos, a conversão de lead para cliente é baixa — não porque o produto é ruim, mas porque a maioria não tinha perfil, intenção ou patrimônio adequado desde o início.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3"/>
          <p:cNvSpPr/>
          <p:nvPr/>
        </p:nvSpPr>
        <p:spPr>
          <a:xfrm>
            <a:off x="6171900" y="1784325"/>
            <a:ext cx="2514600" cy="24000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As plataformas não sabem disso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O algoritmo aprende com quem clicou e preencheu. Não com quem abriu conta e investiu. Resultado: ele continua trazendo mais dos mesmos leads — independente de quantos viraram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PROBLEMA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As falhas do leadscore clássico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t/>
            </a:r>
            <a:endParaRPr b="1" sz="3000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1691640"/>
            <a:ext cx="4023360" cy="11887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18562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Regras fixas na segmentação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" y="2321827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Otimizar para dispositivo, interesses e etc. gera um perfil genérico, não trazendo quem vai realmente investir mais.</a:t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663440" y="1691640"/>
            <a:ext cx="4023360" cy="11887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46320" y="18562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Cego para o que importa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46320" y="213055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Cada escritório tem um perfil de cliente que converte. Esse perfil é único e depende de combinações que nenhuma segmentação manual consegue capturar.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3063240"/>
            <a:ext cx="4023360" cy="11887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0080" y="32278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CPL imprevisível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080" y="350215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Lead parece qualificado na captura — mas não abre conta. A plataforma de anúncios entregou formulários preenchidos. Não clientes com AuC relevante.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663440" y="3063240"/>
            <a:ext cx="4023360" cy="118872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46320" y="32278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Dados não lineares</a:t>
            </a:r>
            <a:endParaRPr b="1" sz="1200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46320" y="350215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Alguns tentam criar regras de pontuação de leads. O problema: regras fixas assumem linearidade. É um chute bem informado.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6ad0e4a15_0_0"/>
          <p:cNvSpPr/>
          <p:nvPr/>
        </p:nvSpPr>
        <p:spPr>
          <a:xfrm>
            <a:off x="457200" y="320040"/>
            <a:ext cx="82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 TENTATIVA SOFISTICADA</a:t>
            </a:r>
            <a:endParaRPr/>
          </a:p>
        </p:txBody>
      </p:sp>
      <p:sp>
        <p:nvSpPr>
          <p:cNvPr id="57" name="Google Shape;57;g3d6ad0e4a15_0_0"/>
          <p:cNvSpPr/>
          <p:nvPr/>
        </p:nvSpPr>
        <p:spPr>
          <a:xfrm>
            <a:off x="457200" y="520000"/>
            <a:ext cx="8229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Os dados não são lineares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g3d6ad0e4a15_0_0"/>
          <p:cNvSpPr/>
          <p:nvPr/>
        </p:nvSpPr>
        <p:spPr>
          <a:xfrm>
            <a:off x="457200" y="1180000"/>
            <a:ext cx="8229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Muitos anunciantes já calculam pontos por resposta e enviam esse score à plataforma via servidor. Parece um sinal melhor — mas o modelo trata cada variável de forma independente. O que prediz conversão não é uma resposta isolada: é a combinação específica de várias respostas juntas.</a:t>
            </a:r>
            <a:endParaRPr/>
          </a:p>
        </p:txBody>
      </p:sp>
      <p:sp>
        <p:nvSpPr>
          <p:cNvPr id="59" name="Google Shape;59;g3d6ad0e4a15_0_0"/>
          <p:cNvSpPr/>
          <p:nvPr/>
        </p:nvSpPr>
        <p:spPr>
          <a:xfrm>
            <a:off x="457200" y="1760000"/>
            <a:ext cx="3900000" cy="2420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o score manual funciona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Pergunta 1: tem ensino superior? +20pts. </a:t>
            </a:r>
            <a:endParaRPr b="0" i="0" sz="880" u="none" cap="none" strike="noStrike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Pergunta 2: renda acima de R$5k? +30pts. </a:t>
            </a:r>
            <a:endParaRPr b="0" i="0" sz="880" u="none" cap="none" strike="noStrike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Pergunta 3: idade entre 25-34? +25pts. </a:t>
            </a:r>
            <a:endParaRPr b="0" i="0" sz="880" u="none" cap="none" strike="noStrike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Total: 75pts — enviado à plataforma como sinal de qualidade.</a:t>
            </a:r>
            <a:endParaRPr/>
          </a:p>
        </p:txBody>
      </p:sp>
      <p:sp>
        <p:nvSpPr>
          <p:cNvPr id="60" name="Google Shape;60;g3d6ad0e4a15_0_0"/>
          <p:cNvSpPr/>
          <p:nvPr/>
        </p:nvSpPr>
        <p:spPr>
          <a:xfrm>
            <a:off x="4586800" y="1760000"/>
            <a:ext cx="4100100" cy="24201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Por que ainda falha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O modelo soma pontos como se cada variável fosse independente. Mas na prática, “ensino superior + renda baixa” converte de forma muito diferente de “ensino superior + renda alta”. Um score linear não enxerga essa diferença — e a plataforma aprende com um sinal simplificado demais.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6ad0e4a15_0_10"/>
          <p:cNvSpPr/>
          <p:nvPr/>
        </p:nvSpPr>
        <p:spPr>
          <a:xfrm>
            <a:off x="457200" y="320040"/>
            <a:ext cx="82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 SOLUÇÃO</a:t>
            </a:r>
            <a:endParaRPr/>
          </a:p>
        </p:txBody>
      </p:sp>
      <p:sp>
        <p:nvSpPr>
          <p:cNvPr id="66" name="Google Shape;66;g3d6ad0e4a15_0_10"/>
          <p:cNvSpPr/>
          <p:nvPr/>
        </p:nvSpPr>
        <p:spPr>
          <a:xfrm>
            <a:off x="457200" y="589975"/>
            <a:ext cx="8229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"ilusão da validade" é a confiança excessiva em modelos que ignoram combinações".</a:t>
            </a:r>
            <a:endParaRPr b="1" sz="15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Daniel </a:t>
            </a: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Kahneman</a:t>
            </a:r>
            <a:endParaRPr b="1" sz="15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g3d6ad0e4a15_0_10"/>
          <p:cNvSpPr/>
          <p:nvPr/>
        </p:nvSpPr>
        <p:spPr>
          <a:xfrm>
            <a:off x="457200" y="133390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O modelo não soma pontos — aprende quais combinações predizem conversão. A plataforma recebe uma probabilidade calibrada no comportamento real do seu comprador.</a:t>
            </a:r>
            <a:endParaRPr/>
          </a:p>
        </p:txBody>
      </p:sp>
      <p:pic>
        <p:nvPicPr>
          <p:cNvPr id="68" name="Google Shape;68;g3d6ad0e4a15_0_10" title="heatmap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2400"/>
            <a:ext cx="8839197" cy="303058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d6ad0e4a15_0_10"/>
          <p:cNvSpPr/>
          <p:nvPr/>
        </p:nvSpPr>
        <p:spPr>
          <a:xfrm>
            <a:off x="457200" y="4542975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O cálculo necessárias para mapear combinações entre 40-100 ( variáveis é inviável para solução humana, mas possível com Inteligência Artificial.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3200400" y="1680000"/>
            <a:ext cx="2057400" cy="25716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Treino e monitoramento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O algoritmo é treinado nos dados reais da operação e aprende quais padrões conjuntos predizem compra — não cada variável isolada.</a:t>
            </a:r>
            <a:endParaRPr b="0" i="0" sz="900" u="none" cap="none" strike="noStrike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O modelo em produção é monitorado 24/7 para verificar se o resultado está dentro do desejado.</a:t>
            </a:r>
            <a:endParaRPr b="0" i="0" sz="900" u="none" cap="none" strike="noStrike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Quando detectada a necessidade, o modelo passa por um retreino com dados atualizados.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É TREINADO UM MODELO DE MACHINE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57200" y="54864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 modelo aprende com quem já virou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57200" y="112000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Dados históricos dos clientes treinam o modelo uma vez. Depois, ele classifica cada novo lead em tempo real com base no que foi aprendido.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57200" y="1680000"/>
            <a:ext cx="2057400" cy="2571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Dados de entrada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1- Respostas do formulário de interesse ou landing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2- Dados de quem abriu conta e se tornou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3- Histórico do cliente e de clientes parecidos na organização.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4- Padrões temporais e sazonais.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2628000" y="27432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444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371200" y="27432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444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943600" y="1680000"/>
            <a:ext cx="2743200" cy="2571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Output: modelo calibrado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Classifica novos leads em tempo real, direcionando o investimento na plataforma para trazer leads com o padrão dos melhores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FUNCIONA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sinal certo, na hora certa.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 cada lead captado, o sistema atribui uma probabilidade de ser um cliente alvo e envia esse sinal à plataforma em menos de 5 minutos.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1600200"/>
            <a:ext cx="1828800" cy="109728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94360" y="17099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94360" y="19202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Lead preenche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formulário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322576" y="198424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514600" y="1600200"/>
            <a:ext cx="1828800" cy="109728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651760" y="17099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651760" y="19202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Modelo atribui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score de propensão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379976" y="198424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572000" y="1600200"/>
            <a:ext cx="1828800" cy="109728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709160" y="17099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709160" y="19202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Sinal enviado à plataforma via servidor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437376" y="198424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629400" y="1600200"/>
            <a:ext cx="1828800" cy="109728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766560" y="17099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766560" y="19202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Plataforma aprende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e traz mais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" y="27889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SINAIS QUE O MODELO USA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57200" y="2999232"/>
            <a:ext cx="1772107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48640" y="3054096"/>
            <a:ext cx="158922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Respostas do formulário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366467" y="2999232"/>
            <a:ext cx="1272845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457907" y="3054096"/>
            <a:ext cx="108996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Patrimônio declarado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776472" y="2999232"/>
            <a:ext cx="1986077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867912" y="3054096"/>
            <a:ext cx="180319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Histórico de relacionamento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57200" y="3383280"/>
            <a:ext cx="1486814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8640" y="3438144"/>
            <a:ext cx="130393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Padrões temporais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081174" y="3383280"/>
            <a:ext cx="1772107" cy="27432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172614" y="3438144"/>
            <a:ext cx="158922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Tempo e engajamento na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943592" y="3008442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035032" y="3063307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Interações anteriores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990424" y="3392493"/>
            <a:ext cx="17721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081864" y="3447357"/>
            <a:ext cx="158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Perfil e patrimônio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943592" y="34017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077507" y="34380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Comportamento na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943517" y="37950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77432" y="38313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Dispositivo e navegador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943517" y="41883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077432" y="42246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Objetivo de investimento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RESULTADOS — 4 MESES DE OPERAÇÃO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R$ 470.000 de margem incremental verificada.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1280160"/>
            <a:ext cx="2029968" cy="1115568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21792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R$ 470k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21792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Margem incremental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total — 4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633472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798064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798064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Lançamentos 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produção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809744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974336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+131%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974336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Receita mediana a mais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por real investido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986016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150608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7/7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150608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Lançamentos com ROAS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ML &gt;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4"/>
          <p:cNvGraphicFramePr/>
          <p:nvPr/>
        </p:nvGraphicFramePr>
        <p:xfrm>
          <a:off x="457200" y="2542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{6DB4653A-1AE4-4EDE-82A6-2D9A39032A5B}</a:tableStyleId>
              </a:tblPr>
              <a:tblGrid>
                <a:gridCol w="2926075"/>
                <a:gridCol w="1828800"/>
                <a:gridCol w="1828800"/>
                <a:gridCol w="16459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Período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Sem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Ganho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dez/2025 — 3 lançamentos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R$ 104.000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R$ 80.000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+R$ 24.000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jan/2026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R$ 340.000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R$ 195.000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+R$ 145.000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fev/2026 — 2 lançamentos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R$ 204.000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R$ 38.000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+R$ 166.000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A855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A8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mar/2026 — 100% ML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A855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A8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R$ 140.000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R$ 39.000 (est.)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+R$ 101.000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PERFORMANCE — ML VS.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Superior em 7/7 períodos A/B — positivo em todos os 10 ciclos.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Campanhas ML e Controle rodando simultaneamente — mesmo período, mesma oferta, mesma audiência-base.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48640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Ciclo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48640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1.06×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48640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0.91×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48640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892808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984248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Ciclo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984248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4.12×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984248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3.78×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984248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328416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419856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Ciclo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419856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3.20×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419856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1.39×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419856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+130%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764024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855464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Ciclo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jan/26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855464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3.64×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855464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1.89×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855464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+93%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199632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291072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Ciclo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fev/26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291072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4.61×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291072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1.52×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291072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+203%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635240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726680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Ciclo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fev/26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726680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5.94×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726680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2.30×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726680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+158%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40080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28–44%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40080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CPL das campanhas 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abaixo do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em todos os períodos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355848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538728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+131%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538728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Receita mediana por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investido vs.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simultâneo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254496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437376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Crescente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437376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Efeito cumulativo a partir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do 3º lançamento — modelo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atualizado a cada ciclo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SUSTENTABILIDADE &amp; GARANTIA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que custaria ter isso internamente.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57200" y="1298448"/>
            <a:ext cx="4160520" cy="21488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40080" y="14173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LONGEVIDADE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40080" y="1627632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Custo de construção</a:t>
            </a:r>
            <a:endParaRPr b="1" i="0" sz="15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828032" y="1298448"/>
            <a:ext cx="4160520" cy="21488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010912" y="14173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AUDITABILIDADE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010912" y="1627632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Retreino contínuo</a:t>
            </a:r>
            <a:endParaRPr b="1" i="0" sz="15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010912" y="1811585"/>
            <a:ext cx="37947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Modelo atualizado a cada ciclo com dados reais de conversão. Sem degradação. Sem necessidade de equipe interna.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110F00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40080" y="3675888"/>
            <a:ext cx="7863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R$470k de margem incremental verificada em 4 meses (case: vendas online) = R$117k por mês de retorno extra. O volume de verba necessário escala com a operação do cliente.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83975" y="2100290"/>
            <a:ext cx="37947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Cientista de dados sênior + MLOps: </a:t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R$60k–90k/mês em salário. </a:t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Mais 6 a 12 meses para ter o primeiro modelo em produção.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/>
          <p:nvPr/>
        </p:nvSpPr>
        <p:spPr>
          <a:xfrm>
            <a:off x="457200" y="320040"/>
            <a:ext cx="82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ALÉM DA CAPTAÇÃO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57200" y="520000"/>
            <a:ext cx="82296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 sistema é a porta de entrada. Os dados abrem o resto.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57200" y="940000"/>
            <a:ext cx="82296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À medida que a operação acumula dados, novas análises se tornam possíveis — sobre captação, carteira e decisões de negócio.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57200" y="1220000"/>
            <a:ext cx="39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EXPANSÕES DO SISTEMA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600000" y="1220000"/>
            <a:ext cx="40868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SERVIÇOS SOB DEMANDA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457200" y="1480000"/>
            <a:ext cx="3900000" cy="26800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Predição de churn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Identificar clientes com risco de saída antes que saiam.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Predição de LTV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Estimar o valor potencial de cada novo lead antes do atendimento.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Segmentação de 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Agrupar carteira por perfil, comportamento e potencial.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Score de reativação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Ranquear inativos por probabilidade de retorno.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Audiência personalizada enriquecida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Lookalike construído a partir dos melhores clientes, não dos leads em geral.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600000" y="1480000"/>
            <a:ext cx="4086800" cy="26800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Rastreamento e qualidade de dados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Auditar e estruturar a coleta de dados para viabilizar modelos futuros.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Integração com CRM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Conectar o sistema de scoring ao CRM para priorizar follow-up automaticamente.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Análise de cohort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Entender o comportamento de grupos de clientes ao longo do tempo.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Análise de precificação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Modelos para otimizar ticket, oferta ou segmentação por capacidade de pagamento.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Experimentos A/B estruturados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Desenho e análise de experimentos para validar hipóteses com rigor estatístico.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SOBRE O DESENVOLVEDOR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54864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7 anos de mercado.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ML aplicado a captação de clientes.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1627632"/>
            <a:ext cx="4160520" cy="196596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40080" y="175564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EXPERIÊNCIA DE MERCADO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40080" y="1975104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+120 ciclos de captação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40080" y="2377440"/>
            <a:ext cx="3794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Operações de múltiplos 7 e 8 dígitos em captação de clientes via Meta Ads. O modelo foi treinado em dados reais de conversão — não em teoria.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28032" y="1627632"/>
            <a:ext cx="3858768" cy="196596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010912" y="1755648"/>
            <a:ext cx="3493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FORMAÇÃO TÉCNICA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010912" y="1993392"/>
            <a:ext cx="349300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Stanford University — Machine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University of Michigan — Python for Everyone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DeepLearning.AI — ML in 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Google — ML Engineer Certificate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MLOps Community — First Stack MLOps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Char char="•"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IBM — Databases &amp; SQL for Data Science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57200" y="3730752"/>
            <a:ext cx="8229600" cy="105156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3730752"/>
            <a:ext cx="54864" cy="1051560"/>
          </a:xfrm>
          <a:prstGeom prst="rect">
            <a:avLst/>
          </a:prstGeom>
          <a:solidFill>
            <a:srgbClr val="C8A855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85800" y="391363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706D65"/>
                </a:solidFill>
                <a:latin typeface="Georgia"/>
                <a:ea typeface="Georgia"/>
                <a:cs typeface="Georgia"/>
                <a:sym typeface="Georgia"/>
              </a:rPr>
              <a:t>"Em Deus nós confiamos, os demais, tragam me os dados."</a:t>
            </a:r>
            <a:endParaRPr b="0" i="1" sz="1300" u="none" cap="none" strike="noStrike">
              <a:solidFill>
                <a:srgbClr val="706D6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706D65"/>
                </a:solidFill>
                <a:latin typeface="Georgia"/>
                <a:ea typeface="Georgia"/>
                <a:cs typeface="Georgia"/>
                <a:sym typeface="Georgia"/>
              </a:rPr>
              <a:t>"In God we trust, all the others must bring data."</a:t>
            </a:r>
            <a:endParaRPr b="0" i="1" sz="1300" u="none" cap="none" strike="noStrike">
              <a:solidFill>
                <a:srgbClr val="706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85800" y="4279392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— W. Edwards Deming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2026-03-25T18:30:10Z</dcterms:created>
  <dc:creator>PptxGenJS</dc:creator>
</cp:coreProperties>
</file>